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5143500" cx="9144000"/>
  <p:notesSz cx="6858000" cy="9144000"/>
  <p:embeddedFontLst>
    <p:embeddedFont>
      <p:font typeface="Average"/>
      <p:regular r:id="rId26"/>
    </p:embeddedFont>
    <p:embeddedFont>
      <p:font typeface="Oswald"/>
      <p:regular r:id="rId27"/>
      <p:bold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Average-regular.fntdata"/><Relationship Id="rId25" Type="http://schemas.openxmlformats.org/officeDocument/2006/relationships/slide" Target="slides/slide20.xml"/><Relationship Id="rId28" Type="http://schemas.openxmlformats.org/officeDocument/2006/relationships/font" Target="fonts/Oswald-bold.fntdata"/><Relationship Id="rId27" Type="http://schemas.openxmlformats.org/officeDocument/2006/relationships/font" Target="fonts/Oswald-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c6f980f91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c6f980f9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c6f980f91_0_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c6f980f91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c6f980f91_0_1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c6f980f91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c6f980f91_0_2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c6f980f91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c6f980f91_0_3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c6f980f91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179d9bfc38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179d9bfc38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179d9bfc38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179d9bfc38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179d9bfc38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179d9bfc38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179d9bfc38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179d9bfc38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179d9bfc38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179d9bfc38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179d9bfc38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179d9bfc38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179d9bfc38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179d9bfc38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179d9bfc38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179d9bfc38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179d9bfc38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179d9bfc38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179d9bfc38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179d9bfc38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179d9bfc38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179d9bfc38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179d9bfc38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179d9bfc38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179d9bfc38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3179d9bfc38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179d9bfc38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179d9bfc38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179d9bfc38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3179d9bfc38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grpSp>
        <p:nvGrpSpPr>
          <p:cNvPr id="10" name="Google Shape;10;p2"/>
          <p:cNvGrpSpPr/>
          <p:nvPr/>
        </p:nvGrpSpPr>
        <p:grpSpPr>
          <a:xfrm>
            <a:off x="4350279" y="2855377"/>
            <a:ext cx="443589" cy="105632"/>
            <a:chOff x="4137525" y="2915950"/>
            <a:chExt cx="869100" cy="207000"/>
          </a:xfrm>
        </p:grpSpPr>
        <p:sp>
          <p:nvSpPr>
            <p:cNvPr id="11" name="Google Shape;11;p2"/>
            <p:cNvSpPr/>
            <p:nvPr/>
          </p:nvSpPr>
          <p:spPr>
            <a:xfrm>
              <a:off x="446857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47996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41375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671258" y="990800"/>
            <a:ext cx="7801500" cy="1730100"/>
          </a:xfrm>
          <a:prstGeom prst="rect">
            <a:avLst/>
          </a:prstGeom>
        </p:spPr>
        <p:txBody>
          <a:bodyPr anchorCtr="0" anchor="b" bIns="91425" lIns="91425" spcFirstLastPara="1" rIns="91425" wrap="square" tIns="91425">
            <a:no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5" name="Google Shape;15;p2"/>
          <p:cNvSpPr txBox="1"/>
          <p:nvPr>
            <p:ph idx="1" type="subTitle"/>
          </p:nvPr>
        </p:nvSpPr>
        <p:spPr>
          <a:xfrm>
            <a:off x="671250" y="3174876"/>
            <a:ext cx="78015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6" name="Google Shape;16;p2"/>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3"/>
          <p:cNvSpPr txBox="1"/>
          <p:nvPr>
            <p:ph type="title"/>
          </p:nvPr>
        </p:nvSpPr>
        <p:spPr>
          <a:xfrm>
            <a:off x="671250" y="2141250"/>
            <a:ext cx="7852200" cy="8610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9" name="Google Shape;19;p3"/>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3" name="Google Shape;23;p4"/>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7" name="Google Shape;27;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8" name="Google Shape;28;p5"/>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6"/>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5" name="Google Shape;35;p7"/>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6" name="Shape 36"/>
        <p:cNvGrpSpPr/>
        <p:nvPr/>
      </p:nvGrpSpPr>
      <p:grpSpPr>
        <a:xfrm>
          <a:off x="0" y="0"/>
          <a:ext cx="0" cy="0"/>
          <a:chOff x="0" y="0"/>
          <a:chExt cx="0" cy="0"/>
        </a:xfrm>
      </p:grpSpPr>
      <p:sp>
        <p:nvSpPr>
          <p:cNvPr id="37" name="Google Shape;37;p8"/>
          <p:cNvSpPr txBox="1"/>
          <p:nvPr>
            <p:ph type="title"/>
          </p:nvPr>
        </p:nvSpPr>
        <p:spPr>
          <a:xfrm>
            <a:off x="490250" y="526350"/>
            <a:ext cx="6227100" cy="4090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38" name="Google Shape;38;p8"/>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2" name="Google Shape;42;p9"/>
          <p:cNvSpPr txBox="1"/>
          <p:nvPr>
            <p:ph type="title"/>
          </p:nvPr>
        </p:nvSpPr>
        <p:spPr>
          <a:xfrm>
            <a:off x="265500" y="1081400"/>
            <a:ext cx="4045200" cy="1710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3" name="Google Shape;43;p9"/>
          <p:cNvSpPr txBox="1"/>
          <p:nvPr>
            <p:ph idx="1" type="subTitle"/>
          </p:nvPr>
        </p:nvSpPr>
        <p:spPr>
          <a:xfrm>
            <a:off x="265500" y="2845201"/>
            <a:ext cx="4045200" cy="13455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2100"/>
              <a:buNone/>
              <a:defRPr sz="21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44" name="Google Shape;44;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1600"/>
              </a:spcBef>
              <a:spcAft>
                <a:spcPts val="0"/>
              </a:spcAft>
              <a:buClr>
                <a:schemeClr val="lt1"/>
              </a:buClr>
              <a:buSzPts val="1400"/>
              <a:buChar char="○"/>
              <a:defRPr>
                <a:solidFill>
                  <a:schemeClr val="lt1"/>
                </a:solidFill>
              </a:defRPr>
            </a:lvl2pPr>
            <a:lvl3pPr indent="-317500" lvl="2" marL="1371600">
              <a:spcBef>
                <a:spcPts val="1600"/>
              </a:spcBef>
              <a:spcAft>
                <a:spcPts val="0"/>
              </a:spcAft>
              <a:buClr>
                <a:schemeClr val="lt1"/>
              </a:buClr>
              <a:buSzPts val="1400"/>
              <a:buChar char="■"/>
              <a:defRPr>
                <a:solidFill>
                  <a:schemeClr val="lt1"/>
                </a:solidFill>
              </a:defRPr>
            </a:lvl3pPr>
            <a:lvl4pPr indent="-317500" lvl="3" marL="1828800">
              <a:spcBef>
                <a:spcPts val="1600"/>
              </a:spcBef>
              <a:spcAft>
                <a:spcPts val="0"/>
              </a:spcAft>
              <a:buClr>
                <a:schemeClr val="lt1"/>
              </a:buClr>
              <a:buSzPts val="1400"/>
              <a:buChar char="●"/>
              <a:defRPr>
                <a:solidFill>
                  <a:schemeClr val="lt1"/>
                </a:solidFill>
              </a:defRPr>
            </a:lvl4pPr>
            <a:lvl5pPr indent="-317500" lvl="4" marL="2286000">
              <a:spcBef>
                <a:spcPts val="1600"/>
              </a:spcBef>
              <a:spcAft>
                <a:spcPts val="0"/>
              </a:spcAft>
              <a:buClr>
                <a:schemeClr val="lt1"/>
              </a:buClr>
              <a:buSzPts val="1400"/>
              <a:buChar char="○"/>
              <a:defRPr>
                <a:solidFill>
                  <a:schemeClr val="lt1"/>
                </a:solidFill>
              </a:defRPr>
            </a:lvl5pPr>
            <a:lvl6pPr indent="-317500" lvl="5" marL="2743200">
              <a:spcBef>
                <a:spcPts val="1600"/>
              </a:spcBef>
              <a:spcAft>
                <a:spcPts val="0"/>
              </a:spcAft>
              <a:buClr>
                <a:schemeClr val="lt1"/>
              </a:buClr>
              <a:buSzPts val="1400"/>
              <a:buChar char="■"/>
              <a:defRPr>
                <a:solidFill>
                  <a:schemeClr val="lt1"/>
                </a:solidFill>
              </a:defRPr>
            </a:lvl6pPr>
            <a:lvl7pPr indent="-317500" lvl="6" marL="3200400">
              <a:spcBef>
                <a:spcPts val="1600"/>
              </a:spcBef>
              <a:spcAft>
                <a:spcPts val="0"/>
              </a:spcAft>
              <a:buClr>
                <a:schemeClr val="lt1"/>
              </a:buClr>
              <a:buSzPts val="1400"/>
              <a:buChar char="●"/>
              <a:defRPr>
                <a:solidFill>
                  <a:schemeClr val="lt1"/>
                </a:solidFill>
              </a:defRPr>
            </a:lvl7pPr>
            <a:lvl8pPr indent="-317500" lvl="7" marL="3657600">
              <a:spcBef>
                <a:spcPts val="1600"/>
              </a:spcBef>
              <a:spcAft>
                <a:spcPts val="0"/>
              </a:spcAft>
              <a:buClr>
                <a:schemeClr val="lt1"/>
              </a:buClr>
              <a:buSzPts val="1400"/>
              <a:buChar char="○"/>
              <a:defRPr>
                <a:solidFill>
                  <a:schemeClr val="lt1"/>
                </a:solidFill>
              </a:defRPr>
            </a:lvl8pPr>
            <a:lvl9pPr indent="-317500" lvl="8" marL="4114800">
              <a:spcBef>
                <a:spcPts val="1600"/>
              </a:spcBef>
              <a:spcAft>
                <a:spcPts val="1600"/>
              </a:spcAft>
              <a:buClr>
                <a:schemeClr val="lt1"/>
              </a:buClr>
              <a:buSzPts val="1400"/>
              <a:buChar char="■"/>
              <a:defRPr>
                <a:solidFill>
                  <a:schemeClr val="lt1"/>
                </a:solidFill>
              </a:defRPr>
            </a:lvl9pPr>
          </a:lstStyle>
          <a:p/>
        </p:txBody>
      </p:sp>
      <p:sp>
        <p:nvSpPr>
          <p:cNvPr id="45" name="Google Shape;45;p9"/>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Clr>
                <a:schemeClr val="dk1"/>
              </a:buClr>
              <a:buSzPts val="2100"/>
              <a:buFont typeface="Oswald"/>
              <a:buNone/>
              <a:defRPr sz="2100">
                <a:solidFill>
                  <a:schemeClr val="dk1"/>
                </a:solidFill>
                <a:latin typeface="Oswald"/>
                <a:ea typeface="Oswald"/>
                <a:cs typeface="Oswald"/>
                <a:sym typeface="Oswald"/>
              </a:defRPr>
            </a:lvl1pPr>
          </a:lstStyle>
          <a:p/>
        </p:txBody>
      </p:sp>
      <p:sp>
        <p:nvSpPr>
          <p:cNvPr id="48" name="Google Shape;48;p10"/>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255275"/>
            <a:ext cx="8520600" cy="18906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1" name="Google Shape;51;p11"/>
          <p:cNvSpPr txBox="1"/>
          <p:nvPr>
            <p:ph idx="1" type="body"/>
          </p:nvPr>
        </p:nvSpPr>
        <p:spPr>
          <a:xfrm>
            <a:off x="311700" y="32284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52" name="Google Shape;52;p11"/>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lat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1pPr>
            <a:lvl2pPr lvl="1">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2pPr>
            <a:lvl3pPr lvl="2">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3pPr>
            <a:lvl4pPr lvl="3">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4pPr>
            <a:lvl5pPr lvl="4">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5pPr>
            <a:lvl6pPr lvl="5">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6pPr>
            <a:lvl7pPr lvl="6">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7pPr>
            <a:lvl8pPr lvl="7">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8pPr>
            <a:lvl9pPr lvl="8">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accent3"/>
              </a:buClr>
              <a:buSzPts val="1800"/>
              <a:buFont typeface="Average"/>
              <a:buChar char="●"/>
              <a:defRPr sz="1800">
                <a:solidFill>
                  <a:schemeClr val="accent3"/>
                </a:solidFill>
                <a:latin typeface="Average"/>
                <a:ea typeface="Average"/>
                <a:cs typeface="Average"/>
                <a:sym typeface="Average"/>
              </a:defRPr>
            </a:lvl1pPr>
            <a:lvl2pPr indent="-317500" lvl="1" marL="9144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2pPr>
            <a:lvl3pPr indent="-317500" lvl="2" marL="13716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3pPr>
            <a:lvl4pPr indent="-317500" lvl="3" marL="18288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4pPr>
            <a:lvl5pPr indent="-317500" lvl="4" marL="22860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5pPr>
            <a:lvl6pPr indent="-317500" lvl="5" marL="27432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6pPr>
            <a:lvl7pPr indent="-317500" lvl="6" marL="32004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7pPr>
            <a:lvl8pPr indent="-317500" lvl="7" marL="36576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8pPr>
            <a:lvl9pPr indent="-317500" lvl="8" marL="4114800">
              <a:lnSpc>
                <a:spcPct val="115000"/>
              </a:lnSpc>
              <a:spcBef>
                <a:spcPts val="1600"/>
              </a:spcBef>
              <a:spcAft>
                <a:spcPts val="1600"/>
              </a:spcAft>
              <a:buClr>
                <a:schemeClr val="accent3"/>
              </a:buClr>
              <a:buSzPts val="1400"/>
              <a:buFont typeface="Average"/>
              <a:buChar char="■"/>
              <a:defRPr>
                <a:solidFill>
                  <a:schemeClr val="accent3"/>
                </a:solidFill>
                <a:latin typeface="Average"/>
                <a:ea typeface="Average"/>
                <a:cs typeface="Average"/>
                <a:sym typeface="Average"/>
              </a:defRPr>
            </a:lvl9pPr>
          </a:lstStyle>
          <a:p/>
        </p:txBody>
      </p:sp>
      <p:sp>
        <p:nvSpPr>
          <p:cNvPr id="8" name="Google Shape;8;p1"/>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accent3"/>
                </a:solidFill>
                <a:latin typeface="Average"/>
                <a:ea typeface="Average"/>
                <a:cs typeface="Average"/>
                <a:sym typeface="Average"/>
              </a:defRPr>
            </a:lvl1pPr>
            <a:lvl2pPr lvl="1" algn="r">
              <a:buNone/>
              <a:defRPr sz="1000">
                <a:solidFill>
                  <a:schemeClr val="accent3"/>
                </a:solidFill>
                <a:latin typeface="Average"/>
                <a:ea typeface="Average"/>
                <a:cs typeface="Average"/>
                <a:sym typeface="Average"/>
              </a:defRPr>
            </a:lvl2pPr>
            <a:lvl3pPr lvl="2" algn="r">
              <a:buNone/>
              <a:defRPr sz="1000">
                <a:solidFill>
                  <a:schemeClr val="accent3"/>
                </a:solidFill>
                <a:latin typeface="Average"/>
                <a:ea typeface="Average"/>
                <a:cs typeface="Average"/>
                <a:sym typeface="Average"/>
              </a:defRPr>
            </a:lvl3pPr>
            <a:lvl4pPr lvl="3" algn="r">
              <a:buNone/>
              <a:defRPr sz="1000">
                <a:solidFill>
                  <a:schemeClr val="accent3"/>
                </a:solidFill>
                <a:latin typeface="Average"/>
                <a:ea typeface="Average"/>
                <a:cs typeface="Average"/>
                <a:sym typeface="Average"/>
              </a:defRPr>
            </a:lvl4pPr>
            <a:lvl5pPr lvl="4" algn="r">
              <a:buNone/>
              <a:defRPr sz="1000">
                <a:solidFill>
                  <a:schemeClr val="accent3"/>
                </a:solidFill>
                <a:latin typeface="Average"/>
                <a:ea typeface="Average"/>
                <a:cs typeface="Average"/>
                <a:sym typeface="Average"/>
              </a:defRPr>
            </a:lvl5pPr>
            <a:lvl6pPr lvl="5" algn="r">
              <a:buNone/>
              <a:defRPr sz="1000">
                <a:solidFill>
                  <a:schemeClr val="accent3"/>
                </a:solidFill>
                <a:latin typeface="Average"/>
                <a:ea typeface="Average"/>
                <a:cs typeface="Average"/>
                <a:sym typeface="Average"/>
              </a:defRPr>
            </a:lvl6pPr>
            <a:lvl7pPr lvl="6" algn="r">
              <a:buNone/>
              <a:defRPr sz="1000">
                <a:solidFill>
                  <a:schemeClr val="accent3"/>
                </a:solidFill>
                <a:latin typeface="Average"/>
                <a:ea typeface="Average"/>
                <a:cs typeface="Average"/>
                <a:sym typeface="Average"/>
              </a:defRPr>
            </a:lvl7pPr>
            <a:lvl8pPr lvl="7" algn="r">
              <a:buNone/>
              <a:defRPr sz="1000">
                <a:solidFill>
                  <a:schemeClr val="accent3"/>
                </a:solidFill>
                <a:latin typeface="Average"/>
                <a:ea typeface="Average"/>
                <a:cs typeface="Average"/>
                <a:sym typeface="Average"/>
              </a:defRPr>
            </a:lvl8pPr>
            <a:lvl9pPr lvl="8" algn="r">
              <a:buNone/>
              <a:defRPr sz="1000">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671258" y="990800"/>
            <a:ext cx="7801500" cy="17301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Disney + Hotstar Data Analysis</a:t>
            </a:r>
            <a:endParaRPr/>
          </a:p>
        </p:txBody>
      </p:sp>
      <p:sp>
        <p:nvSpPr>
          <p:cNvPr id="60" name="Google Shape;60;p13"/>
          <p:cNvSpPr txBox="1"/>
          <p:nvPr>
            <p:ph idx="1" type="subTitle"/>
          </p:nvPr>
        </p:nvSpPr>
        <p:spPr>
          <a:xfrm>
            <a:off x="671250" y="3174876"/>
            <a:ext cx="78015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Praveen Raj.G  MBT 12</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Overview</a:t>
            </a:r>
            <a:endParaRPr/>
          </a:p>
        </p:txBody>
      </p:sp>
      <p:sp>
        <p:nvSpPr>
          <p:cNvPr id="66" name="Google Shape;66;p1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Disney+ Hotstar is an Indian streaming service that operates on a subscription video-on-demand model. It is a collaboration between Disney India and Viacom18, which is a subsidiary of Reliance Industries.</a:t>
            </a:r>
            <a:endParaRPr/>
          </a:p>
          <a:p>
            <a:pPr indent="-342900" lvl="0" marL="457200" rtl="0" algn="l">
              <a:spcBef>
                <a:spcPts val="0"/>
              </a:spcBef>
              <a:spcAft>
                <a:spcPts val="0"/>
              </a:spcAft>
              <a:buSzPts val="1800"/>
              <a:buChar char="❏"/>
            </a:pPr>
            <a:r>
              <a:rPr lang="en"/>
              <a:t>Hotstar, a streaming service from Disney Star, offers a wide array of content, including films, television series, live sports, and original programming, alongside licensed content from third parties like Showtime. Its rapid growth coincided with the expansion of mobile broadband in India, leading to its establishment as the leading streaming platform in the country.</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 Cleaning and Preprocessing</a:t>
            </a:r>
            <a:endParaRPr/>
          </a:p>
        </p:txBody>
      </p:sp>
      <p:sp>
        <p:nvSpPr>
          <p:cNvPr id="72" name="Google Shape;72;p15"/>
          <p:cNvSpPr txBox="1"/>
          <p:nvPr/>
        </p:nvSpPr>
        <p:spPr>
          <a:xfrm>
            <a:off x="311750" y="1105700"/>
            <a:ext cx="8520600" cy="3774900"/>
          </a:xfrm>
          <a:prstGeom prst="rect">
            <a:avLst/>
          </a:prstGeom>
          <a:noFill/>
          <a:ln>
            <a:noFill/>
          </a:ln>
        </p:spPr>
        <p:txBody>
          <a:bodyPr anchorCtr="0" anchor="t" bIns="91425" lIns="91425" spcFirstLastPara="1" rIns="91425" wrap="square" tIns="91425">
            <a:normAutofit/>
          </a:bodyPr>
          <a:lstStyle/>
          <a:p>
            <a:pPr indent="-342900" lvl="0" marL="457200" rtl="0" algn="l">
              <a:spcBef>
                <a:spcPts val="0"/>
              </a:spcBef>
              <a:spcAft>
                <a:spcPts val="0"/>
              </a:spcAft>
              <a:buClr>
                <a:schemeClr val="accent3"/>
              </a:buClr>
              <a:buSzPts val="1800"/>
              <a:buFont typeface="Average"/>
              <a:buChar char="❖"/>
            </a:pPr>
            <a:r>
              <a:rPr lang="en" sz="1800">
                <a:solidFill>
                  <a:schemeClr val="accent3"/>
                </a:solidFill>
                <a:latin typeface="Average"/>
                <a:ea typeface="Average"/>
                <a:cs typeface="Average"/>
                <a:sym typeface="Average"/>
              </a:rPr>
              <a:t>For this data analysis i’m using Power BI for visualization</a:t>
            </a:r>
            <a:endParaRPr sz="1800">
              <a:solidFill>
                <a:schemeClr val="accent3"/>
              </a:solidFill>
              <a:latin typeface="Average"/>
              <a:ea typeface="Average"/>
              <a:cs typeface="Average"/>
              <a:sym typeface="Average"/>
            </a:endParaRPr>
          </a:p>
          <a:p>
            <a:pPr indent="0" lvl="0" marL="457200" rtl="0" algn="l">
              <a:spcBef>
                <a:spcPts val="0"/>
              </a:spcBef>
              <a:spcAft>
                <a:spcPts val="0"/>
              </a:spcAft>
              <a:buNone/>
            </a:pPr>
            <a:r>
              <a:t/>
            </a:r>
            <a:endParaRPr sz="1800">
              <a:solidFill>
                <a:schemeClr val="accent3"/>
              </a:solidFill>
              <a:latin typeface="Average"/>
              <a:ea typeface="Average"/>
              <a:cs typeface="Average"/>
              <a:sym typeface="Average"/>
            </a:endParaRPr>
          </a:p>
          <a:p>
            <a:pPr indent="0" lvl="0" marL="457200" rtl="0" algn="l">
              <a:spcBef>
                <a:spcPts val="0"/>
              </a:spcBef>
              <a:spcAft>
                <a:spcPts val="0"/>
              </a:spcAft>
              <a:buNone/>
            </a:pPr>
            <a:r>
              <a:rPr lang="en" sz="1800">
                <a:solidFill>
                  <a:schemeClr val="accent3"/>
                </a:solidFill>
                <a:latin typeface="Average"/>
                <a:ea typeface="Average"/>
                <a:cs typeface="Average"/>
                <a:sym typeface="Average"/>
              </a:rPr>
              <a:t>After loading Disney+hotstar dataset in power BI, Data cleaning processed by following steps.</a:t>
            </a:r>
            <a:endParaRPr sz="1800">
              <a:solidFill>
                <a:schemeClr val="accent3"/>
              </a:solidFill>
              <a:latin typeface="Average"/>
              <a:ea typeface="Average"/>
              <a:cs typeface="Average"/>
              <a:sym typeface="Average"/>
            </a:endParaRPr>
          </a:p>
          <a:p>
            <a:pPr indent="-342900" lvl="0" marL="457200" rtl="0" algn="l">
              <a:spcBef>
                <a:spcPts val="0"/>
              </a:spcBef>
              <a:spcAft>
                <a:spcPts val="0"/>
              </a:spcAft>
              <a:buClr>
                <a:schemeClr val="accent3"/>
              </a:buClr>
              <a:buSzPts val="1800"/>
              <a:buFont typeface="Average"/>
              <a:buChar char="➢"/>
            </a:pPr>
            <a:r>
              <a:rPr lang="en" sz="1800">
                <a:solidFill>
                  <a:schemeClr val="accent3"/>
                </a:solidFill>
                <a:latin typeface="Average"/>
                <a:ea typeface="Average"/>
                <a:cs typeface="Average"/>
                <a:sym typeface="Average"/>
              </a:rPr>
              <a:t>Error removed from Dataset</a:t>
            </a:r>
            <a:endParaRPr sz="1800">
              <a:solidFill>
                <a:schemeClr val="accent3"/>
              </a:solidFill>
              <a:latin typeface="Average"/>
              <a:ea typeface="Average"/>
              <a:cs typeface="Average"/>
              <a:sym typeface="Average"/>
            </a:endParaRPr>
          </a:p>
          <a:p>
            <a:pPr indent="-342900" lvl="0" marL="457200" rtl="0" algn="l">
              <a:spcBef>
                <a:spcPts val="0"/>
              </a:spcBef>
              <a:spcAft>
                <a:spcPts val="0"/>
              </a:spcAft>
              <a:buClr>
                <a:schemeClr val="accent3"/>
              </a:buClr>
              <a:buSzPts val="1800"/>
              <a:buFont typeface="Average"/>
              <a:buChar char="➢"/>
            </a:pPr>
            <a:r>
              <a:rPr lang="en" sz="1800">
                <a:solidFill>
                  <a:schemeClr val="accent3"/>
                </a:solidFill>
                <a:latin typeface="Average"/>
                <a:ea typeface="Average"/>
                <a:cs typeface="Average"/>
                <a:sym typeface="Average"/>
              </a:rPr>
              <a:t>Duplicate removed</a:t>
            </a:r>
            <a:endParaRPr sz="1800">
              <a:solidFill>
                <a:schemeClr val="accent3"/>
              </a:solidFill>
              <a:latin typeface="Average"/>
              <a:ea typeface="Average"/>
              <a:cs typeface="Average"/>
              <a:sym typeface="Average"/>
            </a:endParaRPr>
          </a:p>
          <a:p>
            <a:pPr indent="-342900" lvl="0" marL="457200" rtl="0" algn="l">
              <a:spcBef>
                <a:spcPts val="0"/>
              </a:spcBef>
              <a:spcAft>
                <a:spcPts val="0"/>
              </a:spcAft>
              <a:buClr>
                <a:schemeClr val="accent3"/>
              </a:buClr>
              <a:buSzPts val="1800"/>
              <a:buFont typeface="Average"/>
              <a:buChar char="➢"/>
            </a:pPr>
            <a:r>
              <a:rPr lang="en" sz="1800">
                <a:solidFill>
                  <a:schemeClr val="accent3"/>
                </a:solidFill>
                <a:latin typeface="Average"/>
                <a:ea typeface="Average"/>
                <a:cs typeface="Average"/>
                <a:sym typeface="Average"/>
              </a:rPr>
              <a:t>Replace null values with 0</a:t>
            </a:r>
            <a:endParaRPr sz="1800">
              <a:solidFill>
                <a:schemeClr val="accent3"/>
              </a:solidFill>
              <a:latin typeface="Average"/>
              <a:ea typeface="Average"/>
              <a:cs typeface="Average"/>
              <a:sym typeface="Average"/>
            </a:endParaRPr>
          </a:p>
          <a:p>
            <a:pPr indent="-342900" lvl="0" marL="457200" rtl="0" algn="l">
              <a:spcBef>
                <a:spcPts val="0"/>
              </a:spcBef>
              <a:spcAft>
                <a:spcPts val="0"/>
              </a:spcAft>
              <a:buClr>
                <a:schemeClr val="accent3"/>
              </a:buClr>
              <a:buSzPts val="1800"/>
              <a:buFont typeface="Average"/>
              <a:buChar char="➢"/>
            </a:pPr>
            <a:r>
              <a:rPr lang="en" sz="1800">
                <a:solidFill>
                  <a:schemeClr val="accent3"/>
                </a:solidFill>
                <a:latin typeface="Average"/>
                <a:ea typeface="Average"/>
                <a:cs typeface="Average"/>
                <a:sym typeface="Average"/>
              </a:rPr>
              <a:t>Changed data type for Running time</a:t>
            </a:r>
            <a:endParaRPr sz="1800">
              <a:solidFill>
                <a:schemeClr val="accent3"/>
              </a:solidFill>
              <a:latin typeface="Average"/>
              <a:ea typeface="Average"/>
              <a:cs typeface="Average"/>
              <a:sym typeface="Average"/>
            </a:endParaRPr>
          </a:p>
          <a:p>
            <a:pPr indent="-342900" lvl="0" marL="457200" rtl="0" algn="l">
              <a:spcBef>
                <a:spcPts val="0"/>
              </a:spcBef>
              <a:spcAft>
                <a:spcPts val="0"/>
              </a:spcAft>
              <a:buClr>
                <a:schemeClr val="accent3"/>
              </a:buClr>
              <a:buSzPts val="1800"/>
              <a:buFont typeface="Average"/>
              <a:buChar char="➢"/>
            </a:pPr>
            <a:r>
              <a:rPr lang="en" sz="1800">
                <a:solidFill>
                  <a:schemeClr val="accent3"/>
                </a:solidFill>
                <a:latin typeface="Average"/>
                <a:ea typeface="Average"/>
                <a:cs typeface="Average"/>
                <a:sym typeface="Average"/>
              </a:rPr>
              <a:t>Filtered rows</a:t>
            </a:r>
            <a:endParaRPr sz="1800">
              <a:solidFill>
                <a:schemeClr val="accent3"/>
              </a:solidFill>
              <a:latin typeface="Average"/>
              <a:ea typeface="Average"/>
              <a:cs typeface="Average"/>
              <a:sym typeface="Average"/>
            </a:endParaRPr>
          </a:p>
          <a:p>
            <a:pPr indent="-342900" lvl="0" marL="457200" rtl="0" algn="l">
              <a:spcBef>
                <a:spcPts val="0"/>
              </a:spcBef>
              <a:spcAft>
                <a:spcPts val="0"/>
              </a:spcAft>
              <a:buClr>
                <a:schemeClr val="accent3"/>
              </a:buClr>
              <a:buSzPts val="1800"/>
              <a:buFont typeface="Average"/>
              <a:buChar char="➢"/>
            </a:pPr>
            <a:r>
              <a:rPr lang="en" sz="1800">
                <a:solidFill>
                  <a:schemeClr val="accent3"/>
                </a:solidFill>
                <a:latin typeface="Average"/>
                <a:ea typeface="Average"/>
                <a:cs typeface="Average"/>
                <a:sym typeface="Average"/>
              </a:rPr>
              <a:t>Sorted rows as per requirement</a:t>
            </a:r>
            <a:endParaRPr sz="1800">
              <a:solidFill>
                <a:schemeClr val="accent3"/>
              </a:solidFill>
              <a:latin typeface="Average"/>
              <a:ea typeface="Average"/>
              <a:cs typeface="Average"/>
              <a:sym typeface="Average"/>
            </a:endParaRPr>
          </a:p>
          <a:p>
            <a:pPr indent="0" lvl="0" marL="457200" rtl="0" algn="l">
              <a:spcBef>
                <a:spcPts val="0"/>
              </a:spcBef>
              <a:spcAft>
                <a:spcPts val="0"/>
              </a:spcAft>
              <a:buNone/>
            </a:pPr>
            <a:r>
              <a:t/>
            </a:r>
            <a:endParaRPr sz="1800">
              <a:solidFill>
                <a:schemeClr val="accent3"/>
              </a:solidFill>
              <a:latin typeface="Average"/>
              <a:ea typeface="Average"/>
              <a:cs typeface="Average"/>
              <a:sym typeface="Average"/>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6"/>
          <p:cNvSpPr txBox="1"/>
          <p:nvPr>
            <p:ph type="title"/>
          </p:nvPr>
        </p:nvSpPr>
        <p:spPr>
          <a:xfrm>
            <a:off x="490250" y="526350"/>
            <a:ext cx="6227100" cy="4140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4200"/>
              <a:t>Data Visualization</a:t>
            </a:r>
            <a:r>
              <a:rPr b="1" lang="en" sz="4200"/>
              <a:t>:</a:t>
            </a:r>
            <a:endParaRPr b="1" sz="4200"/>
          </a:p>
          <a:p>
            <a:pPr indent="-368300" lvl="0" marL="457200" rtl="0" algn="l">
              <a:spcBef>
                <a:spcPts val="0"/>
              </a:spcBef>
              <a:spcAft>
                <a:spcPts val="0"/>
              </a:spcAft>
              <a:buSzPts val="2200"/>
              <a:buAutoNum type="arabicPeriod"/>
            </a:pPr>
            <a:r>
              <a:rPr lang="en" sz="2200"/>
              <a:t>After data cleaning as per task list i started to create visualization in Power BI</a:t>
            </a:r>
            <a:endParaRPr sz="2200"/>
          </a:p>
          <a:p>
            <a:pPr indent="-368300" lvl="0" marL="457200" rtl="0" algn="l">
              <a:spcBef>
                <a:spcPts val="0"/>
              </a:spcBef>
              <a:spcAft>
                <a:spcPts val="0"/>
              </a:spcAft>
              <a:buSzPts val="2200"/>
              <a:buAutoNum type="arabicPeriod"/>
            </a:pPr>
            <a:r>
              <a:rPr lang="en" sz="2200"/>
              <a:t>In this Analysis i mostly create visualization for Movie type rather than Tv shows</a:t>
            </a:r>
            <a:endParaRPr sz="2200"/>
          </a:p>
          <a:p>
            <a:pPr indent="-368300" lvl="0" marL="457200" rtl="0" algn="l">
              <a:spcBef>
                <a:spcPts val="0"/>
              </a:spcBef>
              <a:spcAft>
                <a:spcPts val="0"/>
              </a:spcAft>
              <a:buSzPts val="2200"/>
              <a:buAutoNum type="arabicPeriod"/>
            </a:pPr>
            <a:r>
              <a:rPr lang="en" sz="2200"/>
              <a:t>As per task assigned i create only one visuals for Tv shows</a:t>
            </a:r>
            <a:endParaRPr sz="2200"/>
          </a:p>
          <a:p>
            <a:pPr indent="0" lvl="0" marL="0" rtl="0" algn="l">
              <a:spcBef>
                <a:spcPts val="0"/>
              </a:spcBef>
              <a:spcAft>
                <a:spcPts val="0"/>
              </a:spcAft>
              <a:buNone/>
            </a:pPr>
            <a:r>
              <a:rPr b="1" lang="en" sz="4200"/>
              <a:t> </a:t>
            </a:r>
            <a:endParaRPr b="1" sz="4200"/>
          </a:p>
          <a:p>
            <a:pPr indent="0" lvl="0" marL="0" rtl="0" algn="l">
              <a:spcBef>
                <a:spcPts val="0"/>
              </a:spcBef>
              <a:spcAft>
                <a:spcPts val="0"/>
              </a:spcAft>
              <a:buNone/>
            </a:pPr>
            <a:r>
              <a:t/>
            </a:r>
            <a:endParaRPr sz="42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7"/>
          <p:cNvSpPr txBox="1"/>
          <p:nvPr/>
        </p:nvSpPr>
        <p:spPr>
          <a:xfrm>
            <a:off x="483325" y="239525"/>
            <a:ext cx="7795500" cy="6951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None/>
            </a:pPr>
            <a:r>
              <a:rPr lang="en" sz="3000">
                <a:solidFill>
                  <a:schemeClr val="accent3"/>
                </a:solidFill>
                <a:latin typeface="Oswald"/>
                <a:ea typeface="Oswald"/>
                <a:cs typeface="Oswald"/>
                <a:sym typeface="Oswald"/>
              </a:rPr>
              <a:t>Task 1 - Movies Distribution by Genre</a:t>
            </a:r>
            <a:endParaRPr sz="3000">
              <a:solidFill>
                <a:schemeClr val="accent3"/>
              </a:solidFill>
              <a:latin typeface="Oswald"/>
              <a:ea typeface="Oswald"/>
              <a:cs typeface="Oswald"/>
              <a:sym typeface="Oswald"/>
            </a:endParaRPr>
          </a:p>
        </p:txBody>
      </p:sp>
      <p:sp>
        <p:nvSpPr>
          <p:cNvPr id="83" name="Google Shape;83;p17"/>
          <p:cNvSpPr txBox="1"/>
          <p:nvPr/>
        </p:nvSpPr>
        <p:spPr>
          <a:xfrm>
            <a:off x="483325" y="934625"/>
            <a:ext cx="7795500" cy="39138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chemeClr val="accent3"/>
                </a:solidFill>
                <a:latin typeface="Average"/>
                <a:ea typeface="Average"/>
                <a:cs typeface="Average"/>
                <a:sym typeface="Average"/>
              </a:rPr>
              <a:t>Genre Distribution:</a:t>
            </a:r>
            <a:br>
              <a:rPr b="1" lang="en">
                <a:solidFill>
                  <a:schemeClr val="accent3"/>
                </a:solidFill>
                <a:latin typeface="Average"/>
                <a:ea typeface="Average"/>
                <a:cs typeface="Average"/>
                <a:sym typeface="Average"/>
              </a:rPr>
            </a:br>
            <a:endParaRPr b="1">
              <a:solidFill>
                <a:schemeClr val="accent3"/>
              </a:solidFill>
              <a:latin typeface="Average"/>
              <a:ea typeface="Average"/>
              <a:cs typeface="Average"/>
              <a:sym typeface="Average"/>
            </a:endParaRPr>
          </a:p>
          <a:p>
            <a:pPr indent="-317500" lvl="0" marL="457200" rtl="0" algn="l">
              <a:lnSpc>
                <a:spcPct val="115000"/>
              </a:lnSpc>
              <a:spcBef>
                <a:spcPts val="1200"/>
              </a:spcBef>
              <a:spcAft>
                <a:spcPts val="0"/>
              </a:spcAft>
              <a:buClr>
                <a:schemeClr val="accent3"/>
              </a:buClr>
              <a:buSzPts val="1400"/>
              <a:buChar char="●"/>
            </a:pPr>
            <a:r>
              <a:rPr b="1" lang="en">
                <a:solidFill>
                  <a:schemeClr val="accent3"/>
                </a:solidFill>
                <a:latin typeface="Average"/>
                <a:ea typeface="Average"/>
                <a:cs typeface="Average"/>
                <a:sym typeface="Average"/>
              </a:rPr>
              <a:t>Drama:</a:t>
            </a:r>
            <a:r>
              <a:rPr lang="en">
                <a:solidFill>
                  <a:schemeClr val="accent3"/>
                </a:solidFill>
                <a:latin typeface="Average"/>
                <a:ea typeface="Average"/>
                <a:cs typeface="Average"/>
                <a:sym typeface="Average"/>
              </a:rPr>
              <a:t> The most common genre with 1501 movies.</a:t>
            </a:r>
            <a:endParaRPr>
              <a:solidFill>
                <a:schemeClr val="accent3"/>
              </a:solidFill>
              <a:latin typeface="Average"/>
              <a:ea typeface="Average"/>
              <a:cs typeface="Average"/>
              <a:sym typeface="Average"/>
            </a:endParaRPr>
          </a:p>
          <a:p>
            <a:pPr indent="-317500" lvl="0" marL="457200" rtl="0" algn="l">
              <a:lnSpc>
                <a:spcPct val="115000"/>
              </a:lnSpc>
              <a:spcBef>
                <a:spcPts val="0"/>
              </a:spcBef>
              <a:spcAft>
                <a:spcPts val="0"/>
              </a:spcAft>
              <a:buClr>
                <a:schemeClr val="accent3"/>
              </a:buClr>
              <a:buSzPts val="1400"/>
              <a:buChar char="●"/>
            </a:pPr>
            <a:r>
              <a:rPr b="1" lang="en">
                <a:solidFill>
                  <a:schemeClr val="accent3"/>
                </a:solidFill>
                <a:latin typeface="Average"/>
                <a:ea typeface="Average"/>
                <a:cs typeface="Average"/>
                <a:sym typeface="Average"/>
              </a:rPr>
              <a:t>Action:</a:t>
            </a:r>
            <a:r>
              <a:rPr lang="en">
                <a:solidFill>
                  <a:schemeClr val="accent3"/>
                </a:solidFill>
                <a:latin typeface="Average"/>
                <a:ea typeface="Average"/>
                <a:cs typeface="Average"/>
                <a:sym typeface="Average"/>
              </a:rPr>
              <a:t> The second most common genre with 537 movies.</a:t>
            </a:r>
            <a:endParaRPr>
              <a:solidFill>
                <a:schemeClr val="accent3"/>
              </a:solidFill>
              <a:latin typeface="Average"/>
              <a:ea typeface="Average"/>
              <a:cs typeface="Average"/>
              <a:sym typeface="Average"/>
            </a:endParaRPr>
          </a:p>
          <a:p>
            <a:pPr indent="-317500" lvl="0" marL="457200" rtl="0" algn="l">
              <a:lnSpc>
                <a:spcPct val="115000"/>
              </a:lnSpc>
              <a:spcBef>
                <a:spcPts val="0"/>
              </a:spcBef>
              <a:spcAft>
                <a:spcPts val="0"/>
              </a:spcAft>
              <a:buClr>
                <a:schemeClr val="accent3"/>
              </a:buClr>
              <a:buSzPts val="1400"/>
              <a:buChar char="●"/>
            </a:pPr>
            <a:r>
              <a:rPr b="1" lang="en">
                <a:solidFill>
                  <a:schemeClr val="accent3"/>
                </a:solidFill>
                <a:latin typeface="Average"/>
                <a:ea typeface="Average"/>
                <a:cs typeface="Average"/>
                <a:sym typeface="Average"/>
              </a:rPr>
              <a:t>Comedy:</a:t>
            </a:r>
            <a:r>
              <a:rPr lang="en">
                <a:solidFill>
                  <a:schemeClr val="accent3"/>
                </a:solidFill>
                <a:latin typeface="Average"/>
                <a:ea typeface="Average"/>
                <a:cs typeface="Average"/>
                <a:sym typeface="Average"/>
              </a:rPr>
              <a:t> The third most common genre with 525 movies.</a:t>
            </a:r>
            <a:endParaRPr>
              <a:solidFill>
                <a:schemeClr val="accent3"/>
              </a:solidFill>
              <a:latin typeface="Average"/>
              <a:ea typeface="Average"/>
              <a:cs typeface="Average"/>
              <a:sym typeface="Average"/>
            </a:endParaRPr>
          </a:p>
          <a:p>
            <a:pPr indent="0" lvl="0" marL="0" rtl="0" algn="l">
              <a:lnSpc>
                <a:spcPct val="115000"/>
              </a:lnSpc>
              <a:spcBef>
                <a:spcPts val="1200"/>
              </a:spcBef>
              <a:spcAft>
                <a:spcPts val="0"/>
              </a:spcAft>
              <a:buNone/>
            </a:pPr>
            <a:r>
              <a:rPr b="1" lang="en">
                <a:solidFill>
                  <a:schemeClr val="accent3"/>
                </a:solidFill>
                <a:latin typeface="Average"/>
                <a:ea typeface="Average"/>
                <a:cs typeface="Average"/>
                <a:sym typeface="Average"/>
              </a:rPr>
              <a:t>Less Common Genres:</a:t>
            </a:r>
            <a:br>
              <a:rPr b="1" lang="en">
                <a:solidFill>
                  <a:schemeClr val="accent3"/>
                </a:solidFill>
                <a:latin typeface="Average"/>
                <a:ea typeface="Average"/>
                <a:cs typeface="Average"/>
                <a:sym typeface="Average"/>
              </a:rPr>
            </a:br>
            <a:endParaRPr b="1">
              <a:solidFill>
                <a:schemeClr val="accent3"/>
              </a:solidFill>
              <a:latin typeface="Average"/>
              <a:ea typeface="Average"/>
              <a:cs typeface="Average"/>
              <a:sym typeface="Average"/>
            </a:endParaRPr>
          </a:p>
          <a:p>
            <a:pPr indent="-317500" lvl="0" marL="457200" rtl="0" algn="l">
              <a:lnSpc>
                <a:spcPct val="115000"/>
              </a:lnSpc>
              <a:spcBef>
                <a:spcPts val="1200"/>
              </a:spcBef>
              <a:spcAft>
                <a:spcPts val="0"/>
              </a:spcAft>
              <a:buClr>
                <a:schemeClr val="accent3"/>
              </a:buClr>
              <a:buSzPts val="1400"/>
              <a:buFont typeface="Average"/>
              <a:buChar char="●"/>
            </a:pPr>
            <a:r>
              <a:rPr lang="en">
                <a:solidFill>
                  <a:schemeClr val="accent3"/>
                </a:solidFill>
                <a:latin typeface="Average"/>
                <a:ea typeface="Average"/>
                <a:cs typeface="Average"/>
                <a:sym typeface="Average"/>
              </a:rPr>
              <a:t>Genres like "Animals &amp; Nature" and "Concert Film" have very few movies.</a:t>
            </a:r>
            <a:endParaRPr>
              <a:solidFill>
                <a:schemeClr val="accent3"/>
              </a:solidFill>
              <a:latin typeface="Average"/>
              <a:ea typeface="Average"/>
              <a:cs typeface="Average"/>
              <a:sym typeface="Average"/>
            </a:endParaRPr>
          </a:p>
          <a:p>
            <a:pPr indent="0" lvl="0" marL="457200" rtl="0" algn="l">
              <a:lnSpc>
                <a:spcPct val="115000"/>
              </a:lnSpc>
              <a:spcBef>
                <a:spcPts val="1200"/>
              </a:spcBef>
              <a:spcAft>
                <a:spcPts val="0"/>
              </a:spcAft>
              <a:buNone/>
            </a:pPr>
            <a:r>
              <a:t/>
            </a:r>
            <a:endParaRPr>
              <a:solidFill>
                <a:schemeClr val="accent3"/>
              </a:solidFill>
              <a:latin typeface="Average"/>
              <a:ea typeface="Average"/>
              <a:cs typeface="Average"/>
              <a:sym typeface="Average"/>
            </a:endParaRPr>
          </a:p>
          <a:p>
            <a:pPr indent="0" lvl="0" marL="0" rtl="0" algn="l">
              <a:spcBef>
                <a:spcPts val="1200"/>
              </a:spcBef>
              <a:spcAft>
                <a:spcPts val="0"/>
              </a:spcAft>
              <a:buNone/>
            </a:pPr>
            <a:r>
              <a:t/>
            </a:r>
            <a:endParaRPr>
              <a:solidFill>
                <a:schemeClr val="accent3"/>
              </a:solidFill>
              <a:latin typeface="Average"/>
              <a:ea typeface="Average"/>
              <a:cs typeface="Average"/>
              <a:sym typeface="Average"/>
            </a:endParaRPr>
          </a:p>
        </p:txBody>
      </p:sp>
      <p:pic>
        <p:nvPicPr>
          <p:cNvPr id="84" name="Google Shape;84;p17"/>
          <p:cNvPicPr preferRelativeResize="0"/>
          <p:nvPr/>
        </p:nvPicPr>
        <p:blipFill>
          <a:blip r:embed="rId3">
            <a:alphaModFix/>
          </a:blip>
          <a:stretch>
            <a:fillRect/>
          </a:stretch>
        </p:blipFill>
        <p:spPr>
          <a:xfrm>
            <a:off x="6043875" y="496175"/>
            <a:ext cx="2566500" cy="25557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8"/>
          <p:cNvSpPr txBox="1"/>
          <p:nvPr/>
        </p:nvSpPr>
        <p:spPr>
          <a:xfrm>
            <a:off x="440575" y="286275"/>
            <a:ext cx="7795500" cy="6696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None/>
            </a:pPr>
            <a:r>
              <a:rPr lang="en" sz="3000">
                <a:solidFill>
                  <a:schemeClr val="accent3"/>
                </a:solidFill>
                <a:latin typeface="Oswald"/>
                <a:ea typeface="Oswald"/>
                <a:cs typeface="Oswald"/>
                <a:sym typeface="Oswald"/>
              </a:rPr>
              <a:t>Task 2 - Average Running Time by Genre</a:t>
            </a:r>
            <a:endParaRPr sz="3000">
              <a:solidFill>
                <a:schemeClr val="accent3"/>
              </a:solidFill>
              <a:latin typeface="Oswald"/>
              <a:ea typeface="Oswald"/>
              <a:cs typeface="Oswald"/>
              <a:sym typeface="Oswald"/>
            </a:endParaRPr>
          </a:p>
        </p:txBody>
      </p:sp>
      <p:sp>
        <p:nvSpPr>
          <p:cNvPr id="90" name="Google Shape;90;p18"/>
          <p:cNvSpPr txBox="1"/>
          <p:nvPr/>
        </p:nvSpPr>
        <p:spPr>
          <a:xfrm>
            <a:off x="440575" y="955875"/>
            <a:ext cx="7795500" cy="38283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chemeClr val="accent3"/>
                </a:solidFill>
                <a:latin typeface="Average"/>
                <a:ea typeface="Average"/>
                <a:cs typeface="Average"/>
                <a:sym typeface="Average"/>
              </a:rPr>
              <a:t>Average Running Time:</a:t>
            </a:r>
            <a:br>
              <a:rPr b="1" lang="en">
                <a:solidFill>
                  <a:schemeClr val="accent3"/>
                </a:solidFill>
                <a:latin typeface="Average"/>
                <a:ea typeface="Average"/>
                <a:cs typeface="Average"/>
                <a:sym typeface="Average"/>
              </a:rPr>
            </a:br>
            <a:endParaRPr b="1">
              <a:solidFill>
                <a:schemeClr val="accent3"/>
              </a:solidFill>
              <a:latin typeface="Average"/>
              <a:ea typeface="Average"/>
              <a:cs typeface="Average"/>
              <a:sym typeface="Average"/>
            </a:endParaRPr>
          </a:p>
          <a:p>
            <a:pPr indent="-317500" lvl="0" marL="457200" rtl="0" algn="l">
              <a:lnSpc>
                <a:spcPct val="115000"/>
              </a:lnSpc>
              <a:spcBef>
                <a:spcPts val="1200"/>
              </a:spcBef>
              <a:spcAft>
                <a:spcPts val="0"/>
              </a:spcAft>
              <a:buClr>
                <a:schemeClr val="accent3"/>
              </a:buClr>
              <a:buSzPts val="1400"/>
              <a:buChar char="●"/>
            </a:pPr>
            <a:r>
              <a:rPr b="1" lang="en">
                <a:solidFill>
                  <a:schemeClr val="accent3"/>
                </a:solidFill>
                <a:latin typeface="Average"/>
                <a:ea typeface="Average"/>
                <a:cs typeface="Average"/>
                <a:sym typeface="Average"/>
              </a:rPr>
              <a:t>Sport:</a:t>
            </a:r>
            <a:r>
              <a:rPr lang="en">
                <a:solidFill>
                  <a:schemeClr val="accent3"/>
                </a:solidFill>
                <a:latin typeface="Average"/>
                <a:ea typeface="Average"/>
                <a:cs typeface="Average"/>
                <a:sym typeface="Average"/>
              </a:rPr>
              <a:t> The genre with the longest average running time at 155.9 minutes.</a:t>
            </a:r>
            <a:endParaRPr>
              <a:solidFill>
                <a:schemeClr val="accent3"/>
              </a:solidFill>
              <a:latin typeface="Average"/>
              <a:ea typeface="Average"/>
              <a:cs typeface="Average"/>
              <a:sym typeface="Average"/>
            </a:endParaRPr>
          </a:p>
          <a:p>
            <a:pPr indent="-317500" lvl="0" marL="457200" rtl="0" algn="l">
              <a:lnSpc>
                <a:spcPct val="115000"/>
              </a:lnSpc>
              <a:spcBef>
                <a:spcPts val="0"/>
              </a:spcBef>
              <a:spcAft>
                <a:spcPts val="0"/>
              </a:spcAft>
              <a:buClr>
                <a:schemeClr val="accent3"/>
              </a:buClr>
              <a:buSzPts val="1400"/>
              <a:buChar char="●"/>
            </a:pPr>
            <a:r>
              <a:rPr b="1" lang="en">
                <a:solidFill>
                  <a:schemeClr val="accent3"/>
                </a:solidFill>
                <a:latin typeface="Average"/>
                <a:ea typeface="Average"/>
                <a:cs typeface="Average"/>
                <a:sym typeface="Average"/>
              </a:rPr>
              <a:t>Mystery:</a:t>
            </a:r>
            <a:r>
              <a:rPr lang="en">
                <a:solidFill>
                  <a:schemeClr val="accent3"/>
                </a:solidFill>
                <a:latin typeface="Average"/>
                <a:ea typeface="Average"/>
                <a:cs typeface="Average"/>
                <a:sym typeface="Average"/>
              </a:rPr>
              <a:t> The genre with the shortest average running time at 82.0 minutes.</a:t>
            </a:r>
            <a:endParaRPr>
              <a:solidFill>
                <a:schemeClr val="accent3"/>
              </a:solidFill>
              <a:latin typeface="Average"/>
              <a:ea typeface="Average"/>
              <a:cs typeface="Average"/>
              <a:sym typeface="Average"/>
            </a:endParaRPr>
          </a:p>
          <a:p>
            <a:pPr indent="0" lvl="0" marL="0" rtl="0" algn="l">
              <a:lnSpc>
                <a:spcPct val="115000"/>
              </a:lnSpc>
              <a:spcBef>
                <a:spcPts val="1200"/>
              </a:spcBef>
              <a:spcAft>
                <a:spcPts val="0"/>
              </a:spcAft>
              <a:buNone/>
            </a:pPr>
            <a:r>
              <a:rPr b="1" lang="en">
                <a:solidFill>
                  <a:schemeClr val="accent3"/>
                </a:solidFill>
                <a:latin typeface="Average"/>
                <a:ea typeface="Average"/>
                <a:cs typeface="Average"/>
                <a:sym typeface="Average"/>
              </a:rPr>
              <a:t>Genre Distribution:</a:t>
            </a:r>
            <a:br>
              <a:rPr b="1" lang="en">
                <a:solidFill>
                  <a:schemeClr val="accent3"/>
                </a:solidFill>
                <a:latin typeface="Average"/>
                <a:ea typeface="Average"/>
                <a:cs typeface="Average"/>
                <a:sym typeface="Average"/>
              </a:rPr>
            </a:br>
            <a:endParaRPr b="1">
              <a:solidFill>
                <a:schemeClr val="accent3"/>
              </a:solidFill>
              <a:latin typeface="Average"/>
              <a:ea typeface="Average"/>
              <a:cs typeface="Average"/>
              <a:sym typeface="Average"/>
            </a:endParaRPr>
          </a:p>
          <a:p>
            <a:pPr indent="-317500" lvl="0" marL="457200" rtl="0" algn="l">
              <a:lnSpc>
                <a:spcPct val="115000"/>
              </a:lnSpc>
              <a:spcBef>
                <a:spcPts val="1200"/>
              </a:spcBef>
              <a:spcAft>
                <a:spcPts val="0"/>
              </a:spcAft>
              <a:buClr>
                <a:schemeClr val="accent3"/>
              </a:buClr>
              <a:buSzPts val="1400"/>
              <a:buFont typeface="Average"/>
              <a:buChar char="●"/>
            </a:pPr>
            <a:r>
              <a:rPr lang="en">
                <a:solidFill>
                  <a:schemeClr val="accent3"/>
                </a:solidFill>
                <a:latin typeface="Average"/>
                <a:ea typeface="Average"/>
                <a:cs typeface="Average"/>
                <a:sym typeface="Average"/>
              </a:rPr>
              <a:t>Genres like "Sport," "Superhero," and "Talk Show" tend to have longer average running times.</a:t>
            </a:r>
            <a:endParaRPr>
              <a:solidFill>
                <a:schemeClr val="accent3"/>
              </a:solidFill>
              <a:latin typeface="Average"/>
              <a:ea typeface="Average"/>
              <a:cs typeface="Average"/>
              <a:sym typeface="Average"/>
            </a:endParaRPr>
          </a:p>
          <a:p>
            <a:pPr indent="-317500" lvl="0" marL="457200" rtl="0" algn="l">
              <a:lnSpc>
                <a:spcPct val="115000"/>
              </a:lnSpc>
              <a:spcBef>
                <a:spcPts val="0"/>
              </a:spcBef>
              <a:spcAft>
                <a:spcPts val="0"/>
              </a:spcAft>
              <a:buClr>
                <a:schemeClr val="accent3"/>
              </a:buClr>
              <a:buSzPts val="1400"/>
              <a:buFont typeface="Average"/>
              <a:buChar char="●"/>
            </a:pPr>
            <a:r>
              <a:rPr lang="en">
                <a:solidFill>
                  <a:schemeClr val="accent3"/>
                </a:solidFill>
                <a:latin typeface="Average"/>
                <a:ea typeface="Average"/>
                <a:cs typeface="Average"/>
                <a:sym typeface="Average"/>
              </a:rPr>
              <a:t>Genres like "Mystery," "Adventure," and "Drama" tend to have shorter average running times.</a:t>
            </a:r>
            <a:endParaRPr>
              <a:solidFill>
                <a:schemeClr val="accent3"/>
              </a:solidFill>
              <a:latin typeface="Average"/>
              <a:ea typeface="Average"/>
              <a:cs typeface="Average"/>
              <a:sym typeface="Average"/>
            </a:endParaRPr>
          </a:p>
          <a:p>
            <a:pPr indent="0" lvl="0" marL="0" rtl="0" algn="l">
              <a:spcBef>
                <a:spcPts val="1200"/>
              </a:spcBef>
              <a:spcAft>
                <a:spcPts val="0"/>
              </a:spcAft>
              <a:buNone/>
            </a:pPr>
            <a:r>
              <a:t/>
            </a:r>
            <a:endParaRPr>
              <a:solidFill>
                <a:schemeClr val="accent3"/>
              </a:solidFill>
              <a:latin typeface="Average"/>
              <a:ea typeface="Average"/>
              <a:cs typeface="Average"/>
              <a:sym typeface="Average"/>
            </a:endParaRPr>
          </a:p>
        </p:txBody>
      </p:sp>
      <p:pic>
        <p:nvPicPr>
          <p:cNvPr id="91" name="Google Shape;91;p18"/>
          <p:cNvPicPr preferRelativeResize="0"/>
          <p:nvPr/>
        </p:nvPicPr>
        <p:blipFill>
          <a:blip r:embed="rId3">
            <a:alphaModFix/>
          </a:blip>
          <a:stretch>
            <a:fillRect/>
          </a:stretch>
        </p:blipFill>
        <p:spPr>
          <a:xfrm>
            <a:off x="6942100" y="763525"/>
            <a:ext cx="1934549" cy="194189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9"/>
          <p:cNvSpPr txBox="1"/>
          <p:nvPr/>
        </p:nvSpPr>
        <p:spPr>
          <a:xfrm>
            <a:off x="440575" y="286275"/>
            <a:ext cx="7795500" cy="6696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None/>
            </a:pPr>
            <a:r>
              <a:rPr lang="en" sz="3000">
                <a:solidFill>
                  <a:schemeClr val="accent3"/>
                </a:solidFill>
                <a:latin typeface="Oswald"/>
                <a:ea typeface="Oswald"/>
                <a:cs typeface="Oswald"/>
                <a:sym typeface="Oswald"/>
              </a:rPr>
              <a:t>Task 3- Movies Released Each Year</a:t>
            </a:r>
            <a:endParaRPr sz="3000">
              <a:solidFill>
                <a:schemeClr val="accent3"/>
              </a:solidFill>
              <a:latin typeface="Oswald"/>
              <a:ea typeface="Oswald"/>
              <a:cs typeface="Oswald"/>
              <a:sym typeface="Oswald"/>
            </a:endParaRPr>
          </a:p>
        </p:txBody>
      </p:sp>
      <p:sp>
        <p:nvSpPr>
          <p:cNvPr id="97" name="Google Shape;97;p19"/>
          <p:cNvSpPr txBox="1"/>
          <p:nvPr/>
        </p:nvSpPr>
        <p:spPr>
          <a:xfrm>
            <a:off x="440575" y="955875"/>
            <a:ext cx="7795500" cy="382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chemeClr val="accent3"/>
                </a:solidFill>
                <a:latin typeface="Average"/>
                <a:ea typeface="Average"/>
                <a:cs typeface="Average"/>
                <a:sym typeface="Average"/>
              </a:rPr>
              <a:t>Number of Movies Released:</a:t>
            </a:r>
            <a:br>
              <a:rPr b="1" lang="en" sz="1300">
                <a:solidFill>
                  <a:schemeClr val="accent3"/>
                </a:solidFill>
                <a:latin typeface="Average"/>
                <a:ea typeface="Average"/>
                <a:cs typeface="Average"/>
                <a:sym typeface="Average"/>
              </a:rPr>
            </a:br>
            <a:endParaRPr b="1" sz="1300">
              <a:solidFill>
                <a:schemeClr val="accent3"/>
              </a:solidFill>
              <a:latin typeface="Average"/>
              <a:ea typeface="Average"/>
              <a:cs typeface="Average"/>
              <a:sym typeface="Average"/>
            </a:endParaRPr>
          </a:p>
          <a:p>
            <a:pPr indent="-311150" lvl="0" marL="457200" rtl="0" algn="l">
              <a:lnSpc>
                <a:spcPct val="115000"/>
              </a:lnSpc>
              <a:spcBef>
                <a:spcPts val="1200"/>
              </a:spcBef>
              <a:spcAft>
                <a:spcPts val="0"/>
              </a:spcAft>
              <a:buClr>
                <a:schemeClr val="accent3"/>
              </a:buClr>
              <a:buSzPts val="1300"/>
              <a:buFont typeface="Average"/>
              <a:buChar char="●"/>
            </a:pPr>
            <a:r>
              <a:rPr lang="en" sz="1300">
                <a:solidFill>
                  <a:schemeClr val="accent3"/>
                </a:solidFill>
                <a:latin typeface="Average"/>
                <a:ea typeface="Average"/>
                <a:cs typeface="Average"/>
                <a:sym typeface="Average"/>
              </a:rPr>
              <a:t>There has been a significant increase in the number of movies released over the years.</a:t>
            </a:r>
            <a:endParaRPr sz="1300">
              <a:solidFill>
                <a:schemeClr val="accent3"/>
              </a:solidFill>
              <a:latin typeface="Average"/>
              <a:ea typeface="Average"/>
              <a:cs typeface="Average"/>
              <a:sym typeface="Average"/>
            </a:endParaRPr>
          </a:p>
          <a:p>
            <a:pPr indent="-311150" lvl="0" marL="457200" rtl="0" algn="l">
              <a:lnSpc>
                <a:spcPct val="115000"/>
              </a:lnSpc>
              <a:spcBef>
                <a:spcPts val="0"/>
              </a:spcBef>
              <a:spcAft>
                <a:spcPts val="0"/>
              </a:spcAft>
              <a:buClr>
                <a:schemeClr val="accent3"/>
              </a:buClr>
              <a:buSzPts val="1300"/>
              <a:buFont typeface="Average"/>
              <a:buChar char="●"/>
            </a:pPr>
            <a:r>
              <a:rPr lang="en" sz="1300">
                <a:solidFill>
                  <a:schemeClr val="accent3"/>
                </a:solidFill>
                <a:latin typeface="Average"/>
                <a:ea typeface="Average"/>
                <a:cs typeface="Average"/>
                <a:sym typeface="Average"/>
              </a:rPr>
              <a:t>The year with the highest number of releases is 2020, with approximately 350 movies.</a:t>
            </a:r>
            <a:endParaRPr sz="1300">
              <a:solidFill>
                <a:schemeClr val="accent3"/>
              </a:solidFill>
              <a:latin typeface="Average"/>
              <a:ea typeface="Average"/>
              <a:cs typeface="Average"/>
              <a:sym typeface="Average"/>
            </a:endParaRPr>
          </a:p>
          <a:p>
            <a:pPr indent="-311150" lvl="0" marL="457200" rtl="0" algn="l">
              <a:lnSpc>
                <a:spcPct val="115000"/>
              </a:lnSpc>
              <a:spcBef>
                <a:spcPts val="0"/>
              </a:spcBef>
              <a:spcAft>
                <a:spcPts val="0"/>
              </a:spcAft>
              <a:buClr>
                <a:schemeClr val="accent3"/>
              </a:buClr>
              <a:buSzPts val="1300"/>
              <a:buFont typeface="Average"/>
              <a:buChar char="●"/>
            </a:pPr>
            <a:r>
              <a:rPr lang="en" sz="1300">
                <a:solidFill>
                  <a:schemeClr val="accent3"/>
                </a:solidFill>
                <a:latin typeface="Average"/>
                <a:ea typeface="Average"/>
                <a:cs typeface="Average"/>
                <a:sym typeface="Average"/>
              </a:rPr>
              <a:t>The year with the lowest number of releases is 1920, with only 1 movie.</a:t>
            </a:r>
            <a:endParaRPr sz="1300">
              <a:solidFill>
                <a:schemeClr val="accent3"/>
              </a:solidFill>
              <a:latin typeface="Average"/>
              <a:ea typeface="Average"/>
              <a:cs typeface="Average"/>
              <a:sym typeface="Average"/>
            </a:endParaRPr>
          </a:p>
          <a:p>
            <a:pPr indent="0" lvl="0" marL="0" rtl="0" algn="l">
              <a:lnSpc>
                <a:spcPct val="115000"/>
              </a:lnSpc>
              <a:spcBef>
                <a:spcPts val="1200"/>
              </a:spcBef>
              <a:spcAft>
                <a:spcPts val="0"/>
              </a:spcAft>
              <a:buNone/>
            </a:pPr>
            <a:r>
              <a:rPr b="1" lang="en" sz="1300">
                <a:solidFill>
                  <a:schemeClr val="accent3"/>
                </a:solidFill>
                <a:latin typeface="Average"/>
                <a:ea typeface="Average"/>
                <a:cs typeface="Average"/>
                <a:sym typeface="Average"/>
              </a:rPr>
              <a:t>Percentage of Movies Released:</a:t>
            </a:r>
            <a:br>
              <a:rPr b="1" lang="en" sz="1300">
                <a:solidFill>
                  <a:schemeClr val="accent3"/>
                </a:solidFill>
                <a:latin typeface="Average"/>
                <a:ea typeface="Average"/>
                <a:cs typeface="Average"/>
                <a:sym typeface="Average"/>
              </a:rPr>
            </a:br>
            <a:endParaRPr b="1" sz="1300">
              <a:solidFill>
                <a:schemeClr val="accent3"/>
              </a:solidFill>
              <a:latin typeface="Average"/>
              <a:ea typeface="Average"/>
              <a:cs typeface="Average"/>
              <a:sym typeface="Average"/>
            </a:endParaRPr>
          </a:p>
          <a:p>
            <a:pPr indent="-311150" lvl="0" marL="457200" rtl="0" algn="l">
              <a:lnSpc>
                <a:spcPct val="115000"/>
              </a:lnSpc>
              <a:spcBef>
                <a:spcPts val="1200"/>
              </a:spcBef>
              <a:spcAft>
                <a:spcPts val="0"/>
              </a:spcAft>
              <a:buClr>
                <a:schemeClr val="accent3"/>
              </a:buClr>
              <a:buSzPts val="1300"/>
              <a:buFont typeface="Average"/>
              <a:buChar char="●"/>
            </a:pPr>
            <a:r>
              <a:rPr lang="en" sz="1300">
                <a:solidFill>
                  <a:schemeClr val="accent3"/>
                </a:solidFill>
                <a:latin typeface="Average"/>
                <a:ea typeface="Average"/>
                <a:cs typeface="Average"/>
                <a:sym typeface="Average"/>
              </a:rPr>
              <a:t>The percentage of movies released in each year has fluctuated over time.</a:t>
            </a:r>
            <a:endParaRPr sz="1300">
              <a:solidFill>
                <a:schemeClr val="accent3"/>
              </a:solidFill>
              <a:latin typeface="Average"/>
              <a:ea typeface="Average"/>
              <a:cs typeface="Average"/>
              <a:sym typeface="Average"/>
            </a:endParaRPr>
          </a:p>
          <a:p>
            <a:pPr indent="-311150" lvl="0" marL="457200" rtl="0" algn="l">
              <a:lnSpc>
                <a:spcPct val="115000"/>
              </a:lnSpc>
              <a:spcBef>
                <a:spcPts val="0"/>
              </a:spcBef>
              <a:spcAft>
                <a:spcPts val="0"/>
              </a:spcAft>
              <a:buClr>
                <a:schemeClr val="accent3"/>
              </a:buClr>
              <a:buSzPts val="1300"/>
              <a:buFont typeface="Average"/>
              <a:buChar char="●"/>
            </a:pPr>
            <a:r>
              <a:rPr lang="en" sz="1300">
                <a:solidFill>
                  <a:schemeClr val="accent3"/>
                </a:solidFill>
                <a:latin typeface="Average"/>
                <a:ea typeface="Average"/>
                <a:cs typeface="Average"/>
                <a:sym typeface="Average"/>
              </a:rPr>
              <a:t>There was a significant drop in the percentage of movies released in the early 1930s.</a:t>
            </a:r>
            <a:endParaRPr sz="1300">
              <a:solidFill>
                <a:schemeClr val="accent3"/>
              </a:solidFill>
              <a:latin typeface="Average"/>
              <a:ea typeface="Average"/>
              <a:cs typeface="Average"/>
              <a:sym typeface="Average"/>
            </a:endParaRPr>
          </a:p>
          <a:p>
            <a:pPr indent="0" lvl="0" marL="0" rtl="0" algn="l">
              <a:lnSpc>
                <a:spcPct val="115000"/>
              </a:lnSpc>
              <a:spcBef>
                <a:spcPts val="1200"/>
              </a:spcBef>
              <a:spcAft>
                <a:spcPts val="0"/>
              </a:spcAft>
              <a:buNone/>
            </a:pPr>
            <a:r>
              <a:rPr b="1" lang="en" sz="1300">
                <a:solidFill>
                  <a:schemeClr val="accent3"/>
                </a:solidFill>
                <a:latin typeface="Average"/>
                <a:ea typeface="Average"/>
                <a:cs typeface="Average"/>
                <a:sym typeface="Average"/>
              </a:rPr>
              <a:t>Trend:</a:t>
            </a:r>
            <a:br>
              <a:rPr b="1" lang="en" sz="1300">
                <a:solidFill>
                  <a:schemeClr val="accent3"/>
                </a:solidFill>
                <a:latin typeface="Average"/>
                <a:ea typeface="Average"/>
                <a:cs typeface="Average"/>
                <a:sym typeface="Average"/>
              </a:rPr>
            </a:br>
            <a:endParaRPr b="1" sz="1300">
              <a:solidFill>
                <a:schemeClr val="accent3"/>
              </a:solidFill>
              <a:latin typeface="Average"/>
              <a:ea typeface="Average"/>
              <a:cs typeface="Average"/>
              <a:sym typeface="Average"/>
            </a:endParaRPr>
          </a:p>
          <a:p>
            <a:pPr indent="-311150" lvl="0" marL="457200" rtl="0" algn="l">
              <a:lnSpc>
                <a:spcPct val="115000"/>
              </a:lnSpc>
              <a:spcBef>
                <a:spcPts val="1200"/>
              </a:spcBef>
              <a:spcAft>
                <a:spcPts val="0"/>
              </a:spcAft>
              <a:buClr>
                <a:schemeClr val="accent3"/>
              </a:buClr>
              <a:buSzPts val="1300"/>
              <a:buFont typeface="Average"/>
              <a:buChar char="●"/>
            </a:pPr>
            <a:r>
              <a:rPr lang="en" sz="1300">
                <a:solidFill>
                  <a:schemeClr val="accent3"/>
                </a:solidFill>
                <a:latin typeface="Average"/>
                <a:ea typeface="Average"/>
                <a:cs typeface="Average"/>
                <a:sym typeface="Average"/>
              </a:rPr>
              <a:t>The chart shows a clear upward trend in the number of movies released over time.</a:t>
            </a:r>
            <a:endParaRPr sz="1300">
              <a:solidFill>
                <a:schemeClr val="accent3"/>
              </a:solidFill>
              <a:latin typeface="Average"/>
              <a:ea typeface="Average"/>
              <a:cs typeface="Average"/>
              <a:sym typeface="Average"/>
            </a:endParaRPr>
          </a:p>
          <a:p>
            <a:pPr indent="-311150" lvl="0" marL="457200" rtl="0" algn="l">
              <a:lnSpc>
                <a:spcPct val="115000"/>
              </a:lnSpc>
              <a:spcBef>
                <a:spcPts val="0"/>
              </a:spcBef>
              <a:spcAft>
                <a:spcPts val="0"/>
              </a:spcAft>
              <a:buClr>
                <a:schemeClr val="accent3"/>
              </a:buClr>
              <a:buSzPts val="1300"/>
              <a:buFont typeface="Average"/>
              <a:buChar char="●"/>
            </a:pPr>
            <a:r>
              <a:rPr lang="en" sz="1300">
                <a:solidFill>
                  <a:schemeClr val="accent3"/>
                </a:solidFill>
                <a:latin typeface="Average"/>
                <a:ea typeface="Average"/>
                <a:cs typeface="Average"/>
                <a:sym typeface="Average"/>
              </a:rPr>
              <a:t>The percentage of movies released has been relatively stable since the 1950s.</a:t>
            </a:r>
            <a:endParaRPr sz="1300">
              <a:solidFill>
                <a:schemeClr val="accent3"/>
              </a:solidFill>
              <a:latin typeface="Average"/>
              <a:ea typeface="Average"/>
              <a:cs typeface="Average"/>
              <a:sym typeface="Average"/>
            </a:endParaRPr>
          </a:p>
          <a:p>
            <a:pPr indent="0" lvl="0" marL="0" rtl="0" algn="l">
              <a:spcBef>
                <a:spcPts val="1200"/>
              </a:spcBef>
              <a:spcAft>
                <a:spcPts val="0"/>
              </a:spcAft>
              <a:buNone/>
            </a:pPr>
            <a:r>
              <a:t/>
            </a:r>
            <a:endParaRPr b="1" sz="1300">
              <a:solidFill>
                <a:schemeClr val="accent3"/>
              </a:solidFill>
              <a:latin typeface="Average"/>
              <a:ea typeface="Average"/>
              <a:cs typeface="Average"/>
              <a:sym typeface="Average"/>
            </a:endParaRPr>
          </a:p>
        </p:txBody>
      </p:sp>
      <p:pic>
        <p:nvPicPr>
          <p:cNvPr id="98" name="Google Shape;98;p19"/>
          <p:cNvPicPr preferRelativeResize="0"/>
          <p:nvPr/>
        </p:nvPicPr>
        <p:blipFill>
          <a:blip r:embed="rId3">
            <a:alphaModFix/>
          </a:blip>
          <a:stretch>
            <a:fillRect/>
          </a:stretch>
        </p:blipFill>
        <p:spPr>
          <a:xfrm>
            <a:off x="7025525" y="1276775"/>
            <a:ext cx="2055274" cy="279097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0"/>
          <p:cNvSpPr txBox="1"/>
          <p:nvPr/>
        </p:nvSpPr>
        <p:spPr>
          <a:xfrm>
            <a:off x="440575" y="286275"/>
            <a:ext cx="7795500" cy="6696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None/>
            </a:pPr>
            <a:r>
              <a:rPr lang="en" sz="3000">
                <a:solidFill>
                  <a:schemeClr val="accent3"/>
                </a:solidFill>
                <a:latin typeface="Oswald"/>
                <a:ea typeface="Oswald"/>
                <a:cs typeface="Oswald"/>
                <a:sym typeface="Oswald"/>
              </a:rPr>
              <a:t>Task 4 - Top 10 Longest Movie </a:t>
            </a:r>
            <a:endParaRPr sz="3000">
              <a:solidFill>
                <a:schemeClr val="accent3"/>
              </a:solidFill>
              <a:latin typeface="Oswald"/>
              <a:ea typeface="Oswald"/>
              <a:cs typeface="Oswald"/>
              <a:sym typeface="Oswald"/>
            </a:endParaRPr>
          </a:p>
        </p:txBody>
      </p:sp>
      <p:sp>
        <p:nvSpPr>
          <p:cNvPr id="104" name="Google Shape;104;p20"/>
          <p:cNvSpPr txBox="1"/>
          <p:nvPr/>
        </p:nvSpPr>
        <p:spPr>
          <a:xfrm>
            <a:off x="440575" y="955875"/>
            <a:ext cx="7795500" cy="3828300"/>
          </a:xfrm>
          <a:prstGeom prst="rect">
            <a:avLst/>
          </a:prstGeom>
          <a:noFill/>
          <a:ln>
            <a:noFill/>
          </a:ln>
        </p:spPr>
        <p:txBody>
          <a:bodyPr anchorCtr="0" anchor="t" bIns="91425" lIns="91425" spcFirstLastPara="1" rIns="91425" wrap="square" tIns="91425">
            <a:normAutofit/>
          </a:bodyPr>
          <a:lstStyle/>
          <a:p>
            <a:pPr indent="-323850" lvl="0" marL="457200" rtl="0" algn="l">
              <a:spcBef>
                <a:spcPts val="0"/>
              </a:spcBef>
              <a:spcAft>
                <a:spcPts val="0"/>
              </a:spcAft>
              <a:buClr>
                <a:schemeClr val="accent3"/>
              </a:buClr>
              <a:buSzPts val="1500"/>
              <a:buFont typeface="Average"/>
              <a:buChar char="★"/>
            </a:pPr>
            <a:r>
              <a:rPr b="1" lang="en" sz="1500">
                <a:solidFill>
                  <a:schemeClr val="accent3"/>
                </a:solidFill>
                <a:latin typeface="Average"/>
                <a:ea typeface="Average"/>
                <a:cs typeface="Average"/>
                <a:sym typeface="Average"/>
              </a:rPr>
              <a:t>Distribution of Running Times:</a:t>
            </a:r>
            <a:r>
              <a:rPr lang="en" sz="1500">
                <a:solidFill>
                  <a:schemeClr val="accent3"/>
                </a:solidFill>
                <a:latin typeface="Average"/>
                <a:ea typeface="Average"/>
                <a:cs typeface="Average"/>
                <a:sym typeface="Average"/>
              </a:rPr>
              <a:t> The donut chart displays the distribution of average running times across different movies.</a:t>
            </a:r>
            <a:endParaRPr sz="1500">
              <a:solidFill>
                <a:schemeClr val="accent3"/>
              </a:solidFill>
              <a:latin typeface="Average"/>
              <a:ea typeface="Average"/>
              <a:cs typeface="Average"/>
              <a:sym typeface="Average"/>
            </a:endParaRPr>
          </a:p>
          <a:p>
            <a:pPr indent="-323850" lvl="0" marL="457200" rtl="0" algn="l">
              <a:spcBef>
                <a:spcPts val="0"/>
              </a:spcBef>
              <a:spcAft>
                <a:spcPts val="0"/>
              </a:spcAft>
              <a:buClr>
                <a:schemeClr val="accent3"/>
              </a:buClr>
              <a:buSzPts val="1500"/>
              <a:buFont typeface="Average"/>
              <a:buChar char="★"/>
            </a:pPr>
            <a:r>
              <a:rPr b="1" lang="en" sz="1500">
                <a:solidFill>
                  <a:schemeClr val="accent3"/>
                </a:solidFill>
                <a:latin typeface="Average"/>
                <a:ea typeface="Average"/>
                <a:cs typeface="Average"/>
                <a:sym typeface="Average"/>
              </a:rPr>
              <a:t>Movie with the Longest Running Time:</a:t>
            </a:r>
            <a:r>
              <a:rPr lang="en" sz="1500">
                <a:solidFill>
                  <a:schemeClr val="accent3"/>
                </a:solidFill>
                <a:latin typeface="Average"/>
                <a:ea typeface="Average"/>
                <a:cs typeface="Average"/>
                <a:sym typeface="Average"/>
              </a:rPr>
              <a:t> The movie with the longest average running time is "The 2022 Rock &amp; Roll Hall of Fame Induction Ceremony" with an average running time of 229 minutes.</a:t>
            </a:r>
            <a:endParaRPr sz="1500">
              <a:solidFill>
                <a:schemeClr val="accent3"/>
              </a:solidFill>
              <a:latin typeface="Average"/>
              <a:ea typeface="Average"/>
              <a:cs typeface="Average"/>
              <a:sym typeface="Average"/>
            </a:endParaRPr>
          </a:p>
          <a:p>
            <a:pPr indent="-323850" lvl="0" marL="457200" rtl="0" algn="l">
              <a:spcBef>
                <a:spcPts val="0"/>
              </a:spcBef>
              <a:spcAft>
                <a:spcPts val="0"/>
              </a:spcAft>
              <a:buClr>
                <a:schemeClr val="accent3"/>
              </a:buClr>
              <a:buSzPts val="1500"/>
              <a:buFont typeface="Average"/>
              <a:buChar char="★"/>
            </a:pPr>
            <a:r>
              <a:rPr b="1" lang="en" sz="1500">
                <a:solidFill>
                  <a:schemeClr val="accent3"/>
                </a:solidFill>
                <a:latin typeface="Average"/>
                <a:ea typeface="Average"/>
                <a:cs typeface="Average"/>
                <a:sym typeface="Average"/>
              </a:rPr>
              <a:t>Movie with the Shortest Running Time:</a:t>
            </a:r>
            <a:r>
              <a:rPr lang="en" sz="1500">
                <a:solidFill>
                  <a:schemeClr val="accent3"/>
                </a:solidFill>
                <a:latin typeface="Average"/>
                <a:ea typeface="Average"/>
                <a:cs typeface="Average"/>
                <a:sym typeface="Average"/>
              </a:rPr>
              <a:t> The movie with the shortest average running time is "Arendelle Castle Yule Log: Cut Paper Edition" with an average running time of 181 minutes.</a:t>
            </a:r>
            <a:endParaRPr sz="1500">
              <a:solidFill>
                <a:schemeClr val="accent3"/>
              </a:solidFill>
              <a:latin typeface="Average"/>
              <a:ea typeface="Average"/>
              <a:cs typeface="Average"/>
              <a:sym typeface="Average"/>
            </a:endParaRPr>
          </a:p>
          <a:p>
            <a:pPr indent="0" lvl="0" marL="457200" rtl="0" algn="l">
              <a:spcBef>
                <a:spcPts val="0"/>
              </a:spcBef>
              <a:spcAft>
                <a:spcPts val="0"/>
              </a:spcAft>
              <a:buNone/>
            </a:pPr>
            <a:r>
              <a:t/>
            </a:r>
            <a:endParaRPr b="1" sz="1500">
              <a:solidFill>
                <a:schemeClr val="accent3"/>
              </a:solidFill>
              <a:latin typeface="Average"/>
              <a:ea typeface="Average"/>
              <a:cs typeface="Average"/>
              <a:sym typeface="Average"/>
            </a:endParaRPr>
          </a:p>
          <a:p>
            <a:pPr indent="0" lvl="0" marL="457200" rtl="0" algn="l">
              <a:spcBef>
                <a:spcPts val="0"/>
              </a:spcBef>
              <a:spcAft>
                <a:spcPts val="0"/>
              </a:spcAft>
              <a:buNone/>
            </a:pPr>
            <a:r>
              <a:t/>
            </a:r>
            <a:endParaRPr b="1" sz="1500">
              <a:solidFill>
                <a:schemeClr val="accent3"/>
              </a:solidFill>
              <a:latin typeface="Average"/>
              <a:ea typeface="Average"/>
              <a:cs typeface="Average"/>
              <a:sym typeface="Average"/>
            </a:endParaRPr>
          </a:p>
          <a:p>
            <a:pPr indent="0" lvl="0" marL="0" rtl="0" algn="l">
              <a:spcBef>
                <a:spcPts val="0"/>
              </a:spcBef>
              <a:spcAft>
                <a:spcPts val="0"/>
              </a:spcAft>
              <a:buNone/>
            </a:pPr>
            <a:r>
              <a:rPr b="1" lang="en" sz="1500">
                <a:solidFill>
                  <a:schemeClr val="accent3"/>
                </a:solidFill>
                <a:latin typeface="Average"/>
                <a:ea typeface="Average"/>
                <a:cs typeface="Average"/>
                <a:sym typeface="Average"/>
              </a:rPr>
              <a:t>Above movies Filtered based on top 10 longest running time</a:t>
            </a:r>
            <a:endParaRPr b="1" sz="1500">
              <a:solidFill>
                <a:schemeClr val="accent3"/>
              </a:solidFill>
              <a:latin typeface="Average"/>
              <a:ea typeface="Average"/>
              <a:cs typeface="Average"/>
              <a:sym typeface="Average"/>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1"/>
          <p:cNvSpPr txBox="1"/>
          <p:nvPr/>
        </p:nvSpPr>
        <p:spPr>
          <a:xfrm>
            <a:off x="440575" y="286275"/>
            <a:ext cx="7795500" cy="6696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None/>
            </a:pPr>
            <a:r>
              <a:rPr lang="en" sz="3000">
                <a:solidFill>
                  <a:schemeClr val="accent3"/>
                </a:solidFill>
                <a:latin typeface="Oswald"/>
                <a:ea typeface="Oswald"/>
                <a:cs typeface="Oswald"/>
                <a:sym typeface="Oswald"/>
              </a:rPr>
              <a:t>Task 5 - Movies by Age Rating</a:t>
            </a:r>
            <a:endParaRPr sz="3000">
              <a:solidFill>
                <a:schemeClr val="accent3"/>
              </a:solidFill>
              <a:latin typeface="Oswald"/>
              <a:ea typeface="Oswald"/>
              <a:cs typeface="Oswald"/>
              <a:sym typeface="Oswald"/>
            </a:endParaRPr>
          </a:p>
        </p:txBody>
      </p:sp>
      <p:sp>
        <p:nvSpPr>
          <p:cNvPr id="110" name="Google Shape;110;p21"/>
          <p:cNvSpPr txBox="1"/>
          <p:nvPr/>
        </p:nvSpPr>
        <p:spPr>
          <a:xfrm>
            <a:off x="440575" y="955875"/>
            <a:ext cx="7795500" cy="3828300"/>
          </a:xfrm>
          <a:prstGeom prst="rect">
            <a:avLst/>
          </a:prstGeom>
          <a:noFill/>
          <a:ln>
            <a:noFill/>
          </a:ln>
        </p:spPr>
        <p:txBody>
          <a:bodyPr anchorCtr="0" anchor="t" bIns="91425" lIns="91425" spcFirstLastPara="1" rIns="91425" wrap="square" tIns="91425">
            <a:normAutofit/>
          </a:bodyPr>
          <a:lstStyle/>
          <a:p>
            <a:pPr indent="-342900" lvl="0" marL="457200" rtl="0" algn="l">
              <a:spcBef>
                <a:spcPts val="0"/>
              </a:spcBef>
              <a:spcAft>
                <a:spcPts val="0"/>
              </a:spcAft>
              <a:buClr>
                <a:schemeClr val="accent3"/>
              </a:buClr>
              <a:buSzPts val="1800"/>
              <a:buFont typeface="Average"/>
              <a:buChar char="➔"/>
            </a:pPr>
            <a:r>
              <a:rPr b="1" lang="en" sz="1800">
                <a:solidFill>
                  <a:schemeClr val="accent3"/>
                </a:solidFill>
                <a:latin typeface="Average"/>
                <a:ea typeface="Average"/>
                <a:cs typeface="Average"/>
                <a:sym typeface="Average"/>
              </a:rPr>
              <a:t>Distribution of Movies by Age Rating:</a:t>
            </a:r>
            <a:r>
              <a:rPr lang="en" sz="1800">
                <a:solidFill>
                  <a:schemeClr val="accent3"/>
                </a:solidFill>
                <a:latin typeface="Average"/>
                <a:ea typeface="Average"/>
                <a:cs typeface="Average"/>
                <a:sym typeface="Average"/>
              </a:rPr>
              <a:t> The bar chart displays the distribution of movies across different age ratings.</a:t>
            </a:r>
            <a:endParaRPr sz="1800">
              <a:solidFill>
                <a:schemeClr val="accent3"/>
              </a:solidFill>
              <a:latin typeface="Average"/>
              <a:ea typeface="Average"/>
              <a:cs typeface="Average"/>
              <a:sym typeface="Average"/>
            </a:endParaRPr>
          </a:p>
          <a:p>
            <a:pPr indent="-342900" lvl="0" marL="457200" rtl="0" algn="l">
              <a:spcBef>
                <a:spcPts val="0"/>
              </a:spcBef>
              <a:spcAft>
                <a:spcPts val="0"/>
              </a:spcAft>
              <a:buClr>
                <a:schemeClr val="accent3"/>
              </a:buClr>
              <a:buSzPts val="1800"/>
              <a:buFont typeface="Average"/>
              <a:buChar char="➔"/>
            </a:pPr>
            <a:r>
              <a:rPr b="1" lang="en" sz="1800">
                <a:solidFill>
                  <a:schemeClr val="accent3"/>
                </a:solidFill>
                <a:latin typeface="Average"/>
                <a:ea typeface="Average"/>
                <a:cs typeface="Average"/>
                <a:sym typeface="Average"/>
              </a:rPr>
              <a:t>Age Rating with the Highest Number of Movies:</a:t>
            </a:r>
            <a:r>
              <a:rPr lang="en" sz="1800">
                <a:solidFill>
                  <a:schemeClr val="accent3"/>
                </a:solidFill>
                <a:latin typeface="Average"/>
                <a:ea typeface="Average"/>
                <a:cs typeface="Average"/>
                <a:sym typeface="Average"/>
              </a:rPr>
              <a:t> The age rating "U/A 13+" has the highest number of movies with 1777 movies.</a:t>
            </a:r>
            <a:endParaRPr sz="1800">
              <a:solidFill>
                <a:schemeClr val="accent3"/>
              </a:solidFill>
              <a:latin typeface="Average"/>
              <a:ea typeface="Average"/>
              <a:cs typeface="Average"/>
              <a:sym typeface="Average"/>
            </a:endParaRPr>
          </a:p>
          <a:p>
            <a:pPr indent="-342900" lvl="0" marL="457200" rtl="0" algn="l">
              <a:spcBef>
                <a:spcPts val="0"/>
              </a:spcBef>
              <a:spcAft>
                <a:spcPts val="0"/>
              </a:spcAft>
              <a:buClr>
                <a:schemeClr val="accent3"/>
              </a:buClr>
              <a:buSzPts val="1800"/>
              <a:buFont typeface="Average"/>
              <a:buChar char="➔"/>
            </a:pPr>
            <a:r>
              <a:rPr b="1" lang="en" sz="1800">
                <a:solidFill>
                  <a:schemeClr val="accent3"/>
                </a:solidFill>
                <a:latin typeface="Average"/>
                <a:ea typeface="Average"/>
                <a:cs typeface="Average"/>
                <a:sym typeface="Average"/>
              </a:rPr>
              <a:t>Age Rating with the Lowest Number of Movies:</a:t>
            </a:r>
            <a:r>
              <a:rPr lang="en" sz="1800">
                <a:solidFill>
                  <a:schemeClr val="accent3"/>
                </a:solidFill>
                <a:latin typeface="Average"/>
                <a:ea typeface="Average"/>
                <a:cs typeface="Average"/>
                <a:sym typeface="Average"/>
              </a:rPr>
              <a:t> The age rating "U/A 7+" has the lowest number of movies with 711 movies.</a:t>
            </a:r>
            <a:endParaRPr sz="1800">
              <a:solidFill>
                <a:schemeClr val="accent3"/>
              </a:solidFill>
              <a:latin typeface="Average"/>
              <a:ea typeface="Average"/>
              <a:cs typeface="Average"/>
              <a:sym typeface="Average"/>
            </a:endParaRPr>
          </a:p>
          <a:p>
            <a:pPr indent="0" lvl="0" marL="457200" rtl="0" algn="l">
              <a:spcBef>
                <a:spcPts val="0"/>
              </a:spcBef>
              <a:spcAft>
                <a:spcPts val="0"/>
              </a:spcAft>
              <a:buNone/>
            </a:pPr>
            <a:r>
              <a:t/>
            </a:r>
            <a:endParaRPr b="1" sz="1800">
              <a:solidFill>
                <a:schemeClr val="accent3"/>
              </a:solidFill>
              <a:latin typeface="Average"/>
              <a:ea typeface="Average"/>
              <a:cs typeface="Average"/>
              <a:sym typeface="Average"/>
            </a:endParaRPr>
          </a:p>
        </p:txBody>
      </p:sp>
      <p:pic>
        <p:nvPicPr>
          <p:cNvPr id="111" name="Google Shape;111;p21"/>
          <p:cNvPicPr preferRelativeResize="0"/>
          <p:nvPr/>
        </p:nvPicPr>
        <p:blipFill>
          <a:blip r:embed="rId3">
            <a:alphaModFix/>
          </a:blip>
          <a:stretch>
            <a:fillRect/>
          </a:stretch>
        </p:blipFill>
        <p:spPr>
          <a:xfrm>
            <a:off x="1456425" y="2752475"/>
            <a:ext cx="4779926" cy="232687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2"/>
          <p:cNvSpPr txBox="1"/>
          <p:nvPr/>
        </p:nvSpPr>
        <p:spPr>
          <a:xfrm>
            <a:off x="592975" y="438675"/>
            <a:ext cx="7795500" cy="6696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None/>
            </a:pPr>
            <a:r>
              <a:rPr lang="en" sz="3000">
                <a:solidFill>
                  <a:schemeClr val="accent3"/>
                </a:solidFill>
                <a:latin typeface="Oswald"/>
                <a:ea typeface="Oswald"/>
                <a:cs typeface="Oswald"/>
                <a:sym typeface="Oswald"/>
              </a:rPr>
              <a:t>Task 6 - Count of Movies by Year and Genre</a:t>
            </a:r>
            <a:endParaRPr sz="3000">
              <a:solidFill>
                <a:schemeClr val="accent3"/>
              </a:solidFill>
              <a:latin typeface="Oswald"/>
              <a:ea typeface="Oswald"/>
              <a:cs typeface="Oswald"/>
              <a:sym typeface="Oswald"/>
            </a:endParaRPr>
          </a:p>
        </p:txBody>
      </p:sp>
      <p:sp>
        <p:nvSpPr>
          <p:cNvPr id="117" name="Google Shape;117;p22"/>
          <p:cNvSpPr txBox="1"/>
          <p:nvPr/>
        </p:nvSpPr>
        <p:spPr>
          <a:xfrm>
            <a:off x="592975" y="1108275"/>
            <a:ext cx="7795500" cy="3828300"/>
          </a:xfrm>
          <a:prstGeom prst="rect">
            <a:avLst/>
          </a:prstGeom>
          <a:noFill/>
          <a:ln>
            <a:noFill/>
          </a:ln>
        </p:spPr>
        <p:txBody>
          <a:bodyPr anchorCtr="0" anchor="t" bIns="91425" lIns="91425" spcFirstLastPara="1" rIns="91425" wrap="square" tIns="91425">
            <a:normAutofit/>
          </a:bodyPr>
          <a:lstStyle/>
          <a:p>
            <a:pPr indent="-342900" lvl="0" marL="457200" rtl="0" algn="l">
              <a:spcBef>
                <a:spcPts val="0"/>
              </a:spcBef>
              <a:spcAft>
                <a:spcPts val="0"/>
              </a:spcAft>
              <a:buClr>
                <a:schemeClr val="accent3"/>
              </a:buClr>
              <a:buSzPts val="1800"/>
              <a:buFont typeface="Average"/>
              <a:buChar char="➢"/>
            </a:pPr>
            <a:r>
              <a:rPr b="1" lang="en" sz="1800">
                <a:solidFill>
                  <a:schemeClr val="accent3"/>
                </a:solidFill>
                <a:latin typeface="Average"/>
                <a:ea typeface="Average"/>
                <a:cs typeface="Average"/>
                <a:sym typeface="Average"/>
              </a:rPr>
              <a:t>Distribution of Movies by Genre and Year:</a:t>
            </a:r>
            <a:r>
              <a:rPr lang="en" sz="1800">
                <a:solidFill>
                  <a:schemeClr val="accent3"/>
                </a:solidFill>
                <a:latin typeface="Average"/>
                <a:ea typeface="Average"/>
                <a:cs typeface="Average"/>
                <a:sym typeface="Average"/>
              </a:rPr>
              <a:t> The matrix visual displays the distribution of movies across different genres and years.</a:t>
            </a:r>
            <a:endParaRPr sz="1800">
              <a:solidFill>
                <a:schemeClr val="accent3"/>
              </a:solidFill>
              <a:latin typeface="Average"/>
              <a:ea typeface="Average"/>
              <a:cs typeface="Average"/>
              <a:sym typeface="Average"/>
            </a:endParaRPr>
          </a:p>
          <a:p>
            <a:pPr indent="-342900" lvl="0" marL="457200" rtl="0" algn="l">
              <a:spcBef>
                <a:spcPts val="0"/>
              </a:spcBef>
              <a:spcAft>
                <a:spcPts val="0"/>
              </a:spcAft>
              <a:buClr>
                <a:schemeClr val="accent3"/>
              </a:buClr>
              <a:buSzPts val="1800"/>
              <a:buFont typeface="Average"/>
              <a:buChar char="➢"/>
            </a:pPr>
            <a:r>
              <a:rPr b="1" lang="en" sz="1800">
                <a:solidFill>
                  <a:schemeClr val="accent3"/>
                </a:solidFill>
                <a:latin typeface="Average"/>
                <a:ea typeface="Average"/>
                <a:cs typeface="Average"/>
                <a:sym typeface="Average"/>
              </a:rPr>
              <a:t>Genre with the Highest Number of Movies:</a:t>
            </a:r>
            <a:r>
              <a:rPr lang="en" sz="1800">
                <a:solidFill>
                  <a:schemeClr val="accent3"/>
                </a:solidFill>
                <a:latin typeface="Average"/>
                <a:ea typeface="Average"/>
                <a:cs typeface="Average"/>
                <a:sym typeface="Average"/>
              </a:rPr>
              <a:t> The genre "Drama" has the highest number of movies.</a:t>
            </a:r>
            <a:endParaRPr sz="1800">
              <a:solidFill>
                <a:schemeClr val="accent3"/>
              </a:solidFill>
              <a:latin typeface="Average"/>
              <a:ea typeface="Average"/>
              <a:cs typeface="Average"/>
              <a:sym typeface="Average"/>
            </a:endParaRPr>
          </a:p>
          <a:p>
            <a:pPr indent="-342900" lvl="0" marL="457200" rtl="0" algn="l">
              <a:spcBef>
                <a:spcPts val="0"/>
              </a:spcBef>
              <a:spcAft>
                <a:spcPts val="0"/>
              </a:spcAft>
              <a:buClr>
                <a:schemeClr val="accent3"/>
              </a:buClr>
              <a:buSzPts val="1800"/>
              <a:buFont typeface="Average"/>
              <a:buChar char="➢"/>
            </a:pPr>
            <a:r>
              <a:rPr b="1" lang="en" sz="1800">
                <a:solidFill>
                  <a:schemeClr val="accent3"/>
                </a:solidFill>
                <a:latin typeface="Average"/>
                <a:ea typeface="Average"/>
                <a:cs typeface="Average"/>
                <a:sym typeface="Average"/>
              </a:rPr>
              <a:t>Year with the Highest Number of Movies:</a:t>
            </a:r>
            <a:r>
              <a:rPr lang="en" sz="1800">
                <a:solidFill>
                  <a:schemeClr val="accent3"/>
                </a:solidFill>
                <a:latin typeface="Average"/>
                <a:ea typeface="Average"/>
                <a:cs typeface="Average"/>
                <a:sym typeface="Average"/>
              </a:rPr>
              <a:t> The year "2014" has the highest number of movies.</a:t>
            </a:r>
            <a:endParaRPr sz="1800">
              <a:solidFill>
                <a:schemeClr val="accent3"/>
              </a:solidFill>
              <a:latin typeface="Average"/>
              <a:ea typeface="Average"/>
              <a:cs typeface="Average"/>
              <a:sym typeface="Average"/>
            </a:endParaRPr>
          </a:p>
          <a:p>
            <a:pPr indent="0" lvl="0" marL="0" rtl="0" algn="l">
              <a:spcBef>
                <a:spcPts val="0"/>
              </a:spcBef>
              <a:spcAft>
                <a:spcPts val="0"/>
              </a:spcAft>
              <a:buNone/>
            </a:pPr>
            <a:r>
              <a:t/>
            </a:r>
            <a:endParaRPr b="1" sz="1800">
              <a:solidFill>
                <a:schemeClr val="accent3"/>
              </a:solidFill>
              <a:latin typeface="Average"/>
              <a:ea typeface="Average"/>
              <a:cs typeface="Average"/>
              <a:sym typeface="Average"/>
            </a:endParaRPr>
          </a:p>
        </p:txBody>
      </p:sp>
      <p:pic>
        <p:nvPicPr>
          <p:cNvPr id="118" name="Google Shape;118;p22"/>
          <p:cNvPicPr preferRelativeResize="0"/>
          <p:nvPr/>
        </p:nvPicPr>
        <p:blipFill>
          <a:blip r:embed="rId3">
            <a:alphaModFix/>
          </a:blip>
          <a:stretch>
            <a:fillRect/>
          </a:stretch>
        </p:blipFill>
        <p:spPr>
          <a:xfrm>
            <a:off x="1039400" y="2987725"/>
            <a:ext cx="5924098" cy="21557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3"/>
          <p:cNvSpPr txBox="1"/>
          <p:nvPr/>
        </p:nvSpPr>
        <p:spPr>
          <a:xfrm>
            <a:off x="440575" y="286275"/>
            <a:ext cx="7795500" cy="6696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None/>
            </a:pPr>
            <a:r>
              <a:rPr lang="en" sz="3000">
                <a:solidFill>
                  <a:schemeClr val="accent3"/>
                </a:solidFill>
                <a:latin typeface="Oswald"/>
                <a:ea typeface="Oswald"/>
                <a:cs typeface="Oswald"/>
                <a:sym typeface="Oswald"/>
              </a:rPr>
              <a:t>Task 7 - Most common movie type</a:t>
            </a:r>
            <a:endParaRPr sz="3000">
              <a:solidFill>
                <a:schemeClr val="accent3"/>
              </a:solidFill>
              <a:latin typeface="Oswald"/>
              <a:ea typeface="Oswald"/>
              <a:cs typeface="Oswald"/>
              <a:sym typeface="Oswald"/>
            </a:endParaRPr>
          </a:p>
        </p:txBody>
      </p:sp>
      <p:sp>
        <p:nvSpPr>
          <p:cNvPr id="124" name="Google Shape;124;p23"/>
          <p:cNvSpPr txBox="1"/>
          <p:nvPr/>
        </p:nvSpPr>
        <p:spPr>
          <a:xfrm>
            <a:off x="440575" y="955875"/>
            <a:ext cx="7795500" cy="3828300"/>
          </a:xfrm>
          <a:prstGeom prst="rect">
            <a:avLst/>
          </a:prstGeom>
          <a:noFill/>
          <a:ln>
            <a:noFill/>
          </a:ln>
        </p:spPr>
        <p:txBody>
          <a:bodyPr anchorCtr="0" anchor="t" bIns="91425" lIns="91425" spcFirstLastPara="1" rIns="91425" wrap="square" tIns="91425">
            <a:normAutofit/>
          </a:bodyPr>
          <a:lstStyle/>
          <a:p>
            <a:pPr indent="-342900" lvl="0" marL="457200" rtl="0" algn="l">
              <a:spcBef>
                <a:spcPts val="0"/>
              </a:spcBef>
              <a:spcAft>
                <a:spcPts val="0"/>
              </a:spcAft>
              <a:buClr>
                <a:schemeClr val="accent3"/>
              </a:buClr>
              <a:buSzPts val="1800"/>
              <a:buFont typeface="Average"/>
              <a:buChar char="➔"/>
            </a:pPr>
            <a:r>
              <a:rPr b="1" lang="en" sz="1800">
                <a:solidFill>
                  <a:schemeClr val="accent3"/>
                </a:solidFill>
                <a:latin typeface="Average"/>
                <a:ea typeface="Average"/>
                <a:cs typeface="Average"/>
                <a:sym typeface="Average"/>
              </a:rPr>
              <a:t>Distribution of Movies and TV Shows:</a:t>
            </a:r>
            <a:r>
              <a:rPr lang="en" sz="1800">
                <a:solidFill>
                  <a:schemeClr val="accent3"/>
                </a:solidFill>
                <a:latin typeface="Average"/>
                <a:ea typeface="Average"/>
                <a:cs typeface="Average"/>
                <a:sym typeface="Average"/>
              </a:rPr>
              <a:t> The bar chart displays the distribution of movies and TV shows in the dataset.</a:t>
            </a:r>
            <a:endParaRPr sz="1800">
              <a:solidFill>
                <a:schemeClr val="accent3"/>
              </a:solidFill>
              <a:latin typeface="Average"/>
              <a:ea typeface="Average"/>
              <a:cs typeface="Average"/>
              <a:sym typeface="Average"/>
            </a:endParaRPr>
          </a:p>
          <a:p>
            <a:pPr indent="-342900" lvl="0" marL="457200" rtl="0" algn="l">
              <a:spcBef>
                <a:spcPts val="0"/>
              </a:spcBef>
              <a:spcAft>
                <a:spcPts val="0"/>
              </a:spcAft>
              <a:buClr>
                <a:schemeClr val="accent3"/>
              </a:buClr>
              <a:buSzPts val="1800"/>
              <a:buFont typeface="Average"/>
              <a:buChar char="➔"/>
            </a:pPr>
            <a:r>
              <a:rPr b="1" lang="en" sz="1800">
                <a:solidFill>
                  <a:schemeClr val="accent3"/>
                </a:solidFill>
                <a:latin typeface="Average"/>
                <a:ea typeface="Average"/>
                <a:cs typeface="Average"/>
                <a:sym typeface="Average"/>
              </a:rPr>
              <a:t>Type with the Highest Number of Content:</a:t>
            </a:r>
            <a:r>
              <a:rPr lang="en" sz="1800">
                <a:solidFill>
                  <a:schemeClr val="accent3"/>
                </a:solidFill>
                <a:latin typeface="Average"/>
                <a:ea typeface="Average"/>
                <a:cs typeface="Average"/>
                <a:sym typeface="Average"/>
              </a:rPr>
              <a:t> The type "movie" has the highest number of content with 4453 movies.</a:t>
            </a:r>
            <a:endParaRPr sz="1800">
              <a:solidFill>
                <a:schemeClr val="accent3"/>
              </a:solidFill>
              <a:latin typeface="Average"/>
              <a:ea typeface="Average"/>
              <a:cs typeface="Average"/>
              <a:sym typeface="Average"/>
            </a:endParaRPr>
          </a:p>
          <a:p>
            <a:pPr indent="-342900" lvl="0" marL="457200" rtl="0" algn="l">
              <a:spcBef>
                <a:spcPts val="0"/>
              </a:spcBef>
              <a:spcAft>
                <a:spcPts val="0"/>
              </a:spcAft>
              <a:buClr>
                <a:schemeClr val="accent3"/>
              </a:buClr>
              <a:buSzPts val="1800"/>
              <a:buFont typeface="Average"/>
              <a:buChar char="➔"/>
            </a:pPr>
            <a:r>
              <a:rPr b="1" lang="en" sz="1800">
                <a:solidFill>
                  <a:schemeClr val="accent3"/>
                </a:solidFill>
                <a:latin typeface="Average"/>
                <a:ea typeface="Average"/>
                <a:cs typeface="Average"/>
                <a:sym typeface="Average"/>
              </a:rPr>
              <a:t>Type with the Lowest Number of Content:</a:t>
            </a:r>
            <a:r>
              <a:rPr lang="en" sz="1800">
                <a:solidFill>
                  <a:schemeClr val="accent3"/>
                </a:solidFill>
                <a:latin typeface="Average"/>
                <a:ea typeface="Average"/>
                <a:cs typeface="Average"/>
                <a:sym typeface="Average"/>
              </a:rPr>
              <a:t> The type "tv show" has a lower number of content with 2224 TV shows.</a:t>
            </a:r>
            <a:endParaRPr sz="1800">
              <a:solidFill>
                <a:schemeClr val="accent3"/>
              </a:solidFill>
              <a:latin typeface="Average"/>
              <a:ea typeface="Average"/>
              <a:cs typeface="Average"/>
              <a:sym typeface="Average"/>
            </a:endParaRPr>
          </a:p>
          <a:p>
            <a:pPr indent="0" lvl="0" marL="457200" rtl="0" algn="l">
              <a:spcBef>
                <a:spcPts val="0"/>
              </a:spcBef>
              <a:spcAft>
                <a:spcPts val="0"/>
              </a:spcAft>
              <a:buNone/>
            </a:pPr>
            <a:r>
              <a:t/>
            </a:r>
            <a:endParaRPr b="1" sz="1800">
              <a:solidFill>
                <a:schemeClr val="accent3"/>
              </a:solidFill>
              <a:latin typeface="Average"/>
              <a:ea typeface="Average"/>
              <a:cs typeface="Average"/>
              <a:sym typeface="Average"/>
            </a:endParaRPr>
          </a:p>
        </p:txBody>
      </p:sp>
      <p:pic>
        <p:nvPicPr>
          <p:cNvPr id="125" name="Google Shape;125;p23"/>
          <p:cNvPicPr preferRelativeResize="0"/>
          <p:nvPr/>
        </p:nvPicPr>
        <p:blipFill>
          <a:blip r:embed="rId3">
            <a:alphaModFix/>
          </a:blip>
          <a:stretch>
            <a:fillRect/>
          </a:stretch>
        </p:blipFill>
        <p:spPr>
          <a:xfrm>
            <a:off x="857625" y="2795250"/>
            <a:ext cx="6489898" cy="21557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4"/>
          <p:cNvSpPr txBox="1"/>
          <p:nvPr/>
        </p:nvSpPr>
        <p:spPr>
          <a:xfrm>
            <a:off x="440575" y="286275"/>
            <a:ext cx="7795500" cy="6696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None/>
            </a:pPr>
            <a:r>
              <a:rPr lang="en" sz="3000">
                <a:solidFill>
                  <a:schemeClr val="accent3"/>
                </a:solidFill>
                <a:latin typeface="Oswald"/>
                <a:ea typeface="Oswald"/>
                <a:cs typeface="Oswald"/>
                <a:sym typeface="Oswald"/>
              </a:rPr>
              <a:t>Task 8 - Correlation between running time and year</a:t>
            </a:r>
            <a:endParaRPr sz="3000">
              <a:solidFill>
                <a:schemeClr val="accent3"/>
              </a:solidFill>
              <a:latin typeface="Oswald"/>
              <a:ea typeface="Oswald"/>
              <a:cs typeface="Oswald"/>
              <a:sym typeface="Oswald"/>
            </a:endParaRPr>
          </a:p>
        </p:txBody>
      </p:sp>
      <p:sp>
        <p:nvSpPr>
          <p:cNvPr id="131" name="Google Shape;131;p24"/>
          <p:cNvSpPr txBox="1"/>
          <p:nvPr/>
        </p:nvSpPr>
        <p:spPr>
          <a:xfrm>
            <a:off x="440575" y="955875"/>
            <a:ext cx="7795500" cy="3828300"/>
          </a:xfrm>
          <a:prstGeom prst="rect">
            <a:avLst/>
          </a:prstGeom>
          <a:noFill/>
          <a:ln>
            <a:noFill/>
          </a:ln>
        </p:spPr>
        <p:txBody>
          <a:bodyPr anchorCtr="0" anchor="t" bIns="91425" lIns="91425" spcFirstLastPara="1" rIns="91425" wrap="square" tIns="91425">
            <a:normAutofit/>
          </a:bodyPr>
          <a:lstStyle/>
          <a:p>
            <a:pPr indent="-317500" lvl="0" marL="457200" rtl="0" algn="l">
              <a:spcBef>
                <a:spcPts val="0"/>
              </a:spcBef>
              <a:spcAft>
                <a:spcPts val="0"/>
              </a:spcAft>
              <a:buClr>
                <a:schemeClr val="accent3"/>
              </a:buClr>
              <a:buSzPts val="1400"/>
              <a:buFont typeface="Average"/>
              <a:buChar char="●"/>
            </a:pPr>
            <a:r>
              <a:rPr b="1" lang="en">
                <a:solidFill>
                  <a:schemeClr val="accent3"/>
                </a:solidFill>
                <a:latin typeface="Average"/>
                <a:ea typeface="Average"/>
                <a:cs typeface="Average"/>
                <a:sym typeface="Average"/>
              </a:rPr>
              <a:t>Distribution of Movies by Year and Running Time:</a:t>
            </a:r>
            <a:r>
              <a:rPr lang="en">
                <a:solidFill>
                  <a:schemeClr val="accent3"/>
                </a:solidFill>
                <a:latin typeface="Average"/>
                <a:ea typeface="Average"/>
                <a:cs typeface="Average"/>
                <a:sym typeface="Average"/>
              </a:rPr>
              <a:t> The scatter plot displays the distribution of movies across different years and running times.</a:t>
            </a:r>
            <a:endParaRPr>
              <a:solidFill>
                <a:schemeClr val="accent3"/>
              </a:solidFill>
              <a:latin typeface="Average"/>
              <a:ea typeface="Average"/>
              <a:cs typeface="Average"/>
              <a:sym typeface="Average"/>
            </a:endParaRPr>
          </a:p>
          <a:p>
            <a:pPr indent="-317500" lvl="0" marL="457200" rtl="0" algn="l">
              <a:spcBef>
                <a:spcPts val="0"/>
              </a:spcBef>
              <a:spcAft>
                <a:spcPts val="0"/>
              </a:spcAft>
              <a:buClr>
                <a:schemeClr val="accent3"/>
              </a:buClr>
              <a:buSzPts val="1400"/>
              <a:buFont typeface="Average"/>
              <a:buChar char="●"/>
            </a:pPr>
            <a:r>
              <a:rPr b="1" lang="en">
                <a:solidFill>
                  <a:schemeClr val="accent3"/>
                </a:solidFill>
                <a:latin typeface="Average"/>
                <a:ea typeface="Average"/>
                <a:cs typeface="Average"/>
                <a:sym typeface="Average"/>
              </a:rPr>
              <a:t>Trend:</a:t>
            </a:r>
            <a:r>
              <a:rPr lang="en">
                <a:solidFill>
                  <a:schemeClr val="accent3"/>
                </a:solidFill>
                <a:latin typeface="Average"/>
                <a:ea typeface="Average"/>
                <a:cs typeface="Average"/>
                <a:sym typeface="Average"/>
              </a:rPr>
              <a:t> There appears to be a slight negative trend, indicating that movies released in later years tend to have slightly shorter running times on average. However, the trend is not very strong.</a:t>
            </a:r>
            <a:endParaRPr>
              <a:solidFill>
                <a:schemeClr val="accent3"/>
              </a:solidFill>
              <a:latin typeface="Average"/>
              <a:ea typeface="Average"/>
              <a:cs typeface="Average"/>
              <a:sym typeface="Average"/>
            </a:endParaRPr>
          </a:p>
          <a:p>
            <a:pPr indent="-317500" lvl="0" marL="457200" rtl="0" algn="l">
              <a:spcBef>
                <a:spcPts val="0"/>
              </a:spcBef>
              <a:spcAft>
                <a:spcPts val="0"/>
              </a:spcAft>
              <a:buClr>
                <a:schemeClr val="accent3"/>
              </a:buClr>
              <a:buSzPts val="1400"/>
              <a:buFont typeface="Average"/>
              <a:buChar char="●"/>
            </a:pPr>
            <a:r>
              <a:rPr b="1" lang="en">
                <a:solidFill>
                  <a:schemeClr val="accent3"/>
                </a:solidFill>
                <a:latin typeface="Average"/>
                <a:ea typeface="Average"/>
                <a:cs typeface="Average"/>
                <a:sym typeface="Average"/>
              </a:rPr>
              <a:t>Outliers:</a:t>
            </a:r>
            <a:r>
              <a:rPr lang="en">
                <a:solidFill>
                  <a:schemeClr val="accent3"/>
                </a:solidFill>
                <a:latin typeface="Average"/>
                <a:ea typeface="Average"/>
                <a:cs typeface="Average"/>
                <a:sym typeface="Average"/>
              </a:rPr>
              <a:t> There are a few outliers with very long running times, which might be TV series or movies with multiple episodes.</a:t>
            </a:r>
            <a:endParaRPr>
              <a:solidFill>
                <a:schemeClr val="accent3"/>
              </a:solidFill>
              <a:latin typeface="Average"/>
              <a:ea typeface="Average"/>
              <a:cs typeface="Average"/>
              <a:sym typeface="Average"/>
            </a:endParaRPr>
          </a:p>
          <a:p>
            <a:pPr indent="0" lvl="0" marL="0" rtl="0" algn="l">
              <a:spcBef>
                <a:spcPts val="0"/>
              </a:spcBef>
              <a:spcAft>
                <a:spcPts val="0"/>
              </a:spcAft>
              <a:buNone/>
            </a:pPr>
            <a:r>
              <a:t/>
            </a:r>
            <a:endParaRPr sz="1800">
              <a:solidFill>
                <a:schemeClr val="accent3"/>
              </a:solidFill>
              <a:latin typeface="Average"/>
              <a:ea typeface="Average"/>
              <a:cs typeface="Average"/>
              <a:sym typeface="Average"/>
            </a:endParaRPr>
          </a:p>
          <a:p>
            <a:pPr indent="-317500" lvl="0" marL="457200" rtl="0" algn="l">
              <a:spcBef>
                <a:spcPts val="0"/>
              </a:spcBef>
              <a:spcAft>
                <a:spcPts val="0"/>
              </a:spcAft>
              <a:buClr>
                <a:schemeClr val="accent3"/>
              </a:buClr>
              <a:buSzPts val="1400"/>
              <a:buChar char="●"/>
            </a:pPr>
            <a:r>
              <a:rPr b="1" lang="en">
                <a:solidFill>
                  <a:schemeClr val="accent3"/>
                </a:solidFill>
              </a:rPr>
              <a:t>Correlation Coefficient:</a:t>
            </a:r>
            <a:r>
              <a:rPr lang="en">
                <a:solidFill>
                  <a:schemeClr val="accent3"/>
                </a:solidFill>
              </a:rPr>
              <a:t> The correlation coefficient between the year of release and the running time is -0.39.</a:t>
            </a:r>
            <a:endParaRPr>
              <a:solidFill>
                <a:schemeClr val="accent3"/>
              </a:solidFill>
            </a:endParaRPr>
          </a:p>
          <a:p>
            <a:pPr indent="-317500" lvl="0" marL="457200" rtl="0" algn="l">
              <a:spcBef>
                <a:spcPts val="0"/>
              </a:spcBef>
              <a:spcAft>
                <a:spcPts val="0"/>
              </a:spcAft>
              <a:buClr>
                <a:schemeClr val="accent3"/>
              </a:buClr>
              <a:buSzPts val="1400"/>
              <a:buChar char="●"/>
            </a:pPr>
            <a:r>
              <a:rPr b="1" lang="en">
                <a:solidFill>
                  <a:schemeClr val="accent3"/>
                </a:solidFill>
              </a:rPr>
              <a:t>Strength of Correlation:</a:t>
            </a:r>
            <a:r>
              <a:rPr lang="en">
                <a:solidFill>
                  <a:schemeClr val="accent3"/>
                </a:solidFill>
              </a:rPr>
              <a:t> The negative value indicates a negative correlation, meaning that as the year of release increases, the running time tends to decrease. However, the magnitude of the correlation is relatively low, indicating a weak correlation.</a:t>
            </a:r>
            <a:endParaRPr>
              <a:solidFill>
                <a:schemeClr val="accent3"/>
              </a:solidFill>
            </a:endParaRPr>
          </a:p>
          <a:p>
            <a:pPr indent="0" lvl="0" marL="0" rtl="0" algn="l">
              <a:spcBef>
                <a:spcPts val="0"/>
              </a:spcBef>
              <a:spcAft>
                <a:spcPts val="0"/>
              </a:spcAft>
              <a:buNone/>
            </a:pPr>
            <a:r>
              <a:t/>
            </a:r>
            <a:endParaRPr sz="1800">
              <a:solidFill>
                <a:schemeClr val="accent3"/>
              </a:solidFill>
              <a:latin typeface="Average"/>
              <a:ea typeface="Average"/>
              <a:cs typeface="Average"/>
              <a:sym typeface="Average"/>
            </a:endParaRPr>
          </a:p>
          <a:p>
            <a:pPr indent="0" lvl="0" marL="0" rtl="0" algn="l">
              <a:spcBef>
                <a:spcPts val="0"/>
              </a:spcBef>
              <a:spcAft>
                <a:spcPts val="0"/>
              </a:spcAft>
              <a:buNone/>
            </a:pPr>
            <a:r>
              <a:t/>
            </a:r>
            <a:endParaRPr b="1" sz="1800">
              <a:solidFill>
                <a:schemeClr val="accent3"/>
              </a:solidFill>
              <a:latin typeface="Average"/>
              <a:ea typeface="Average"/>
              <a:cs typeface="Average"/>
              <a:sym typeface="Average"/>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5"/>
          <p:cNvSpPr txBox="1"/>
          <p:nvPr/>
        </p:nvSpPr>
        <p:spPr>
          <a:xfrm>
            <a:off x="440575" y="286275"/>
            <a:ext cx="7795500" cy="6696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None/>
            </a:pPr>
            <a:r>
              <a:rPr lang="en" sz="3000">
                <a:solidFill>
                  <a:schemeClr val="accent3"/>
                </a:solidFill>
                <a:latin typeface="Oswald"/>
                <a:ea typeface="Oswald"/>
                <a:cs typeface="Oswald"/>
                <a:sym typeface="Oswald"/>
              </a:rPr>
              <a:t>Task 9 - Genre Popularity Over Time</a:t>
            </a:r>
            <a:endParaRPr sz="3000">
              <a:solidFill>
                <a:schemeClr val="accent3"/>
              </a:solidFill>
              <a:latin typeface="Oswald"/>
              <a:ea typeface="Oswald"/>
              <a:cs typeface="Oswald"/>
              <a:sym typeface="Oswald"/>
            </a:endParaRPr>
          </a:p>
        </p:txBody>
      </p:sp>
      <p:sp>
        <p:nvSpPr>
          <p:cNvPr id="137" name="Google Shape;137;p25"/>
          <p:cNvSpPr txBox="1"/>
          <p:nvPr/>
        </p:nvSpPr>
        <p:spPr>
          <a:xfrm>
            <a:off x="440575" y="955875"/>
            <a:ext cx="7795500" cy="3828300"/>
          </a:xfrm>
          <a:prstGeom prst="rect">
            <a:avLst/>
          </a:prstGeom>
          <a:noFill/>
          <a:ln>
            <a:noFill/>
          </a:ln>
        </p:spPr>
        <p:txBody>
          <a:bodyPr anchorCtr="0" anchor="t" bIns="91425" lIns="91425" spcFirstLastPara="1" rIns="91425" wrap="square" tIns="91425">
            <a:normAutofit/>
          </a:bodyPr>
          <a:lstStyle/>
          <a:p>
            <a:pPr indent="-355600" lvl="0" marL="457200" rtl="0" algn="l">
              <a:spcBef>
                <a:spcPts val="0"/>
              </a:spcBef>
              <a:spcAft>
                <a:spcPts val="0"/>
              </a:spcAft>
              <a:buClr>
                <a:schemeClr val="accent3"/>
              </a:buClr>
              <a:buSzPts val="2000"/>
              <a:buFont typeface="Average"/>
              <a:buChar char="➢"/>
            </a:pPr>
            <a:r>
              <a:rPr b="1" lang="en" sz="2000">
                <a:solidFill>
                  <a:schemeClr val="accent3"/>
                </a:solidFill>
                <a:latin typeface="Average"/>
                <a:ea typeface="Average"/>
                <a:cs typeface="Average"/>
                <a:sym typeface="Average"/>
              </a:rPr>
              <a:t>Distribution of Movies by Genre and Year:</a:t>
            </a:r>
            <a:r>
              <a:rPr lang="en" sz="2000">
                <a:solidFill>
                  <a:schemeClr val="accent3"/>
                </a:solidFill>
                <a:latin typeface="Average"/>
                <a:ea typeface="Average"/>
                <a:cs typeface="Average"/>
                <a:sym typeface="Average"/>
              </a:rPr>
              <a:t> The line chart displays the distribution of movies across different genres and years.</a:t>
            </a:r>
            <a:endParaRPr sz="2000">
              <a:solidFill>
                <a:schemeClr val="accent3"/>
              </a:solidFill>
              <a:latin typeface="Average"/>
              <a:ea typeface="Average"/>
              <a:cs typeface="Average"/>
              <a:sym typeface="Average"/>
            </a:endParaRPr>
          </a:p>
          <a:p>
            <a:pPr indent="-355600" lvl="0" marL="457200" rtl="0" algn="l">
              <a:spcBef>
                <a:spcPts val="0"/>
              </a:spcBef>
              <a:spcAft>
                <a:spcPts val="0"/>
              </a:spcAft>
              <a:buClr>
                <a:schemeClr val="accent3"/>
              </a:buClr>
              <a:buSzPts val="2000"/>
              <a:buFont typeface="Average"/>
              <a:buChar char="➢"/>
            </a:pPr>
            <a:r>
              <a:rPr b="1" lang="en" sz="2000">
                <a:solidFill>
                  <a:schemeClr val="accent3"/>
                </a:solidFill>
                <a:latin typeface="Average"/>
                <a:ea typeface="Average"/>
                <a:cs typeface="Average"/>
                <a:sym typeface="Average"/>
              </a:rPr>
              <a:t>Trend:</a:t>
            </a:r>
            <a:r>
              <a:rPr lang="en" sz="2000">
                <a:solidFill>
                  <a:schemeClr val="accent3"/>
                </a:solidFill>
                <a:latin typeface="Average"/>
                <a:ea typeface="Average"/>
                <a:cs typeface="Average"/>
                <a:sym typeface="Average"/>
              </a:rPr>
              <a:t> The chart shows a clear upward trend in the number of movies released over the years.</a:t>
            </a:r>
            <a:endParaRPr sz="2000">
              <a:solidFill>
                <a:schemeClr val="accent3"/>
              </a:solidFill>
              <a:latin typeface="Average"/>
              <a:ea typeface="Average"/>
              <a:cs typeface="Average"/>
              <a:sym typeface="Average"/>
            </a:endParaRPr>
          </a:p>
          <a:p>
            <a:pPr indent="-355600" lvl="0" marL="457200" rtl="0" algn="l">
              <a:spcBef>
                <a:spcPts val="0"/>
              </a:spcBef>
              <a:spcAft>
                <a:spcPts val="0"/>
              </a:spcAft>
              <a:buClr>
                <a:schemeClr val="accent3"/>
              </a:buClr>
              <a:buSzPts val="2000"/>
              <a:buFont typeface="Average"/>
              <a:buChar char="➢"/>
            </a:pPr>
            <a:r>
              <a:rPr b="1" lang="en" sz="2000">
                <a:solidFill>
                  <a:schemeClr val="accent3"/>
                </a:solidFill>
                <a:latin typeface="Average"/>
                <a:ea typeface="Average"/>
                <a:cs typeface="Average"/>
                <a:sym typeface="Average"/>
              </a:rPr>
              <a:t>Genre with the Highest Number of Movies:</a:t>
            </a:r>
            <a:r>
              <a:rPr lang="en" sz="2000">
                <a:solidFill>
                  <a:schemeClr val="accent3"/>
                </a:solidFill>
                <a:latin typeface="Average"/>
                <a:ea typeface="Average"/>
                <a:cs typeface="Average"/>
                <a:sym typeface="Average"/>
              </a:rPr>
              <a:t> The genre "Drama" has the highest number of movies released over the years.</a:t>
            </a:r>
            <a:endParaRPr sz="2000">
              <a:solidFill>
                <a:schemeClr val="accent3"/>
              </a:solidFill>
              <a:latin typeface="Average"/>
              <a:ea typeface="Average"/>
              <a:cs typeface="Average"/>
              <a:sym typeface="Average"/>
            </a:endParaRPr>
          </a:p>
          <a:p>
            <a:pPr indent="0" lvl="0" marL="457200" rtl="0" algn="l">
              <a:spcBef>
                <a:spcPts val="0"/>
              </a:spcBef>
              <a:spcAft>
                <a:spcPts val="0"/>
              </a:spcAft>
              <a:buNone/>
            </a:pPr>
            <a:r>
              <a:t/>
            </a:r>
            <a:endParaRPr b="1" sz="2000">
              <a:solidFill>
                <a:schemeClr val="accent3"/>
              </a:solidFill>
              <a:latin typeface="Average"/>
              <a:ea typeface="Average"/>
              <a:cs typeface="Average"/>
              <a:sym typeface="Average"/>
            </a:endParaRPr>
          </a:p>
        </p:txBody>
      </p:sp>
      <p:pic>
        <p:nvPicPr>
          <p:cNvPr id="138" name="Google Shape;138;p25"/>
          <p:cNvPicPr preferRelativeResize="0"/>
          <p:nvPr/>
        </p:nvPicPr>
        <p:blipFill>
          <a:blip r:embed="rId3">
            <a:alphaModFix/>
          </a:blip>
          <a:stretch>
            <a:fillRect/>
          </a:stretch>
        </p:blipFill>
        <p:spPr>
          <a:xfrm>
            <a:off x="1018000" y="2923575"/>
            <a:ext cx="5710248" cy="211300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6"/>
          <p:cNvSpPr txBox="1"/>
          <p:nvPr/>
        </p:nvSpPr>
        <p:spPr>
          <a:xfrm>
            <a:off x="440575" y="286275"/>
            <a:ext cx="7795500" cy="6696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None/>
            </a:pPr>
            <a:r>
              <a:rPr lang="en" sz="3000">
                <a:solidFill>
                  <a:schemeClr val="accent3"/>
                </a:solidFill>
                <a:latin typeface="Oswald"/>
                <a:ea typeface="Oswald"/>
                <a:cs typeface="Oswald"/>
                <a:sym typeface="Oswald"/>
              </a:rPr>
              <a:t>Task 10 - Movies by Genre and Age rating</a:t>
            </a:r>
            <a:endParaRPr sz="3000">
              <a:solidFill>
                <a:schemeClr val="accent3"/>
              </a:solidFill>
              <a:latin typeface="Oswald"/>
              <a:ea typeface="Oswald"/>
              <a:cs typeface="Oswald"/>
              <a:sym typeface="Oswald"/>
            </a:endParaRPr>
          </a:p>
        </p:txBody>
      </p:sp>
      <p:sp>
        <p:nvSpPr>
          <p:cNvPr id="144" name="Google Shape;144;p26"/>
          <p:cNvSpPr txBox="1"/>
          <p:nvPr/>
        </p:nvSpPr>
        <p:spPr>
          <a:xfrm>
            <a:off x="440575" y="955875"/>
            <a:ext cx="7795500" cy="3828300"/>
          </a:xfrm>
          <a:prstGeom prst="rect">
            <a:avLst/>
          </a:prstGeom>
          <a:noFill/>
          <a:ln>
            <a:noFill/>
          </a:ln>
        </p:spPr>
        <p:txBody>
          <a:bodyPr anchorCtr="0" anchor="t" bIns="91425" lIns="91425" spcFirstLastPara="1" rIns="91425" wrap="square" tIns="91425">
            <a:normAutofit/>
          </a:bodyPr>
          <a:lstStyle/>
          <a:p>
            <a:pPr indent="-317500" lvl="0" marL="457200" rtl="0" algn="l">
              <a:spcBef>
                <a:spcPts val="0"/>
              </a:spcBef>
              <a:spcAft>
                <a:spcPts val="0"/>
              </a:spcAft>
              <a:buClr>
                <a:schemeClr val="accent3"/>
              </a:buClr>
              <a:buSzPts val="1400"/>
              <a:buFont typeface="Average"/>
              <a:buChar char="❏"/>
            </a:pPr>
            <a:r>
              <a:rPr b="1" lang="en">
                <a:solidFill>
                  <a:schemeClr val="accent3"/>
                </a:solidFill>
                <a:latin typeface="Average"/>
                <a:ea typeface="Average"/>
                <a:cs typeface="Average"/>
                <a:sym typeface="Average"/>
              </a:rPr>
              <a:t>The pattern observed in the matrix is the distribution of movies across different genres and age ratings. We can see that some genres have a higher number of movies in specific age ratings compared to others. </a:t>
            </a:r>
            <a:endParaRPr b="1">
              <a:solidFill>
                <a:schemeClr val="accent3"/>
              </a:solidFill>
              <a:latin typeface="Average"/>
              <a:ea typeface="Average"/>
              <a:cs typeface="Average"/>
              <a:sym typeface="Average"/>
            </a:endParaRPr>
          </a:p>
          <a:p>
            <a:pPr indent="0" lvl="0" marL="0" rtl="0" algn="l">
              <a:spcBef>
                <a:spcPts val="0"/>
              </a:spcBef>
              <a:spcAft>
                <a:spcPts val="0"/>
              </a:spcAft>
              <a:buNone/>
            </a:pPr>
            <a:r>
              <a:t/>
            </a:r>
            <a:endParaRPr b="1">
              <a:solidFill>
                <a:schemeClr val="accent3"/>
              </a:solidFill>
              <a:latin typeface="Average"/>
              <a:ea typeface="Average"/>
              <a:cs typeface="Average"/>
              <a:sym typeface="Average"/>
            </a:endParaRPr>
          </a:p>
          <a:p>
            <a:pPr indent="0" lvl="0" marL="0" rtl="0" algn="l">
              <a:spcBef>
                <a:spcPts val="0"/>
              </a:spcBef>
              <a:spcAft>
                <a:spcPts val="0"/>
              </a:spcAft>
              <a:buNone/>
            </a:pPr>
            <a:r>
              <a:rPr b="1" lang="en">
                <a:solidFill>
                  <a:schemeClr val="accent3"/>
                </a:solidFill>
                <a:latin typeface="Average"/>
                <a:ea typeface="Average"/>
                <a:cs typeface="Average"/>
                <a:sym typeface="Average"/>
              </a:rPr>
              <a:t>          For example, "Drama" has a high number of movies across all age ratings, while "Animation" is              primarily targeted towards younger audiences (U/A 7+).</a:t>
            </a:r>
            <a:endParaRPr b="1">
              <a:solidFill>
                <a:schemeClr val="accent3"/>
              </a:solidFill>
              <a:latin typeface="Average"/>
              <a:ea typeface="Average"/>
              <a:cs typeface="Average"/>
              <a:sym typeface="Average"/>
            </a:endParaRPr>
          </a:p>
          <a:p>
            <a:pPr indent="0" lvl="0" marL="0" rtl="0" algn="l">
              <a:spcBef>
                <a:spcPts val="0"/>
              </a:spcBef>
              <a:spcAft>
                <a:spcPts val="0"/>
              </a:spcAft>
              <a:buNone/>
            </a:pPr>
            <a:r>
              <a:t/>
            </a:r>
            <a:endParaRPr b="1">
              <a:solidFill>
                <a:schemeClr val="accent3"/>
              </a:solidFill>
              <a:latin typeface="Average"/>
              <a:ea typeface="Average"/>
              <a:cs typeface="Average"/>
              <a:sym typeface="Average"/>
            </a:endParaRPr>
          </a:p>
          <a:p>
            <a:pPr indent="0" lvl="0" marL="0" rtl="0" algn="l">
              <a:spcBef>
                <a:spcPts val="0"/>
              </a:spcBef>
              <a:spcAft>
                <a:spcPts val="0"/>
              </a:spcAft>
              <a:buNone/>
            </a:pPr>
            <a:r>
              <a:rPr b="1" lang="en">
                <a:solidFill>
                  <a:schemeClr val="accent3"/>
                </a:solidFill>
                <a:latin typeface="Average"/>
                <a:ea typeface="Average"/>
                <a:cs typeface="Average"/>
                <a:sym typeface="Average"/>
              </a:rPr>
              <a:t>Content Strategy:</a:t>
            </a:r>
            <a:r>
              <a:rPr lang="en">
                <a:solidFill>
                  <a:schemeClr val="accent3"/>
                </a:solidFill>
                <a:latin typeface="Average"/>
                <a:ea typeface="Average"/>
                <a:cs typeface="Average"/>
                <a:sym typeface="Average"/>
              </a:rPr>
              <a:t> Understanding the distribution of movies by genre and age rating can help in planning content acquisition and curation strategies.</a:t>
            </a:r>
            <a:endParaRPr>
              <a:solidFill>
                <a:schemeClr val="accent3"/>
              </a:solidFill>
              <a:latin typeface="Average"/>
              <a:ea typeface="Average"/>
              <a:cs typeface="Average"/>
              <a:sym typeface="Average"/>
            </a:endParaRPr>
          </a:p>
          <a:p>
            <a:pPr indent="0" lvl="0" marL="0" rtl="0" algn="l">
              <a:spcBef>
                <a:spcPts val="0"/>
              </a:spcBef>
              <a:spcAft>
                <a:spcPts val="0"/>
              </a:spcAft>
              <a:buNone/>
            </a:pPr>
            <a:r>
              <a:rPr b="1" lang="en">
                <a:solidFill>
                  <a:schemeClr val="accent3"/>
                </a:solidFill>
                <a:latin typeface="Average"/>
                <a:ea typeface="Average"/>
                <a:cs typeface="Average"/>
                <a:sym typeface="Average"/>
              </a:rPr>
              <a:t>Audience Targeting:</a:t>
            </a:r>
            <a:r>
              <a:rPr lang="en">
                <a:solidFill>
                  <a:schemeClr val="accent3"/>
                </a:solidFill>
                <a:latin typeface="Average"/>
                <a:ea typeface="Average"/>
                <a:cs typeface="Average"/>
                <a:sym typeface="Average"/>
              </a:rPr>
              <a:t> By analyzing the popularity of different genres and age ratings, platforms can target specific audiences with relevant content.</a:t>
            </a:r>
            <a:endParaRPr>
              <a:solidFill>
                <a:schemeClr val="accent3"/>
              </a:solidFill>
              <a:latin typeface="Average"/>
              <a:ea typeface="Average"/>
              <a:cs typeface="Average"/>
              <a:sym typeface="Average"/>
            </a:endParaRPr>
          </a:p>
          <a:p>
            <a:pPr indent="0" lvl="0" marL="0" rtl="0" algn="l">
              <a:spcBef>
                <a:spcPts val="0"/>
              </a:spcBef>
              <a:spcAft>
                <a:spcPts val="0"/>
              </a:spcAft>
              <a:buNone/>
            </a:pPr>
            <a:r>
              <a:rPr b="1" lang="en">
                <a:solidFill>
                  <a:schemeClr val="accent3"/>
                </a:solidFill>
                <a:latin typeface="Average"/>
                <a:ea typeface="Average"/>
                <a:cs typeface="Average"/>
                <a:sym typeface="Average"/>
              </a:rPr>
              <a:t>Content Gaps:</a:t>
            </a:r>
            <a:r>
              <a:rPr lang="en">
                <a:solidFill>
                  <a:schemeClr val="accent3"/>
                </a:solidFill>
                <a:latin typeface="Average"/>
                <a:ea typeface="Average"/>
                <a:cs typeface="Average"/>
                <a:sym typeface="Average"/>
              </a:rPr>
              <a:t> Identifying genres or age ratings with fewer movies can help in filling content gaps and diversifying the library.</a:t>
            </a:r>
            <a:endParaRPr>
              <a:solidFill>
                <a:schemeClr val="accent3"/>
              </a:solidFill>
              <a:latin typeface="Average"/>
              <a:ea typeface="Average"/>
              <a:cs typeface="Average"/>
              <a:sym typeface="Average"/>
            </a:endParaRPr>
          </a:p>
          <a:p>
            <a:pPr indent="0" lvl="0" marL="0" rtl="0" algn="l">
              <a:spcBef>
                <a:spcPts val="0"/>
              </a:spcBef>
              <a:spcAft>
                <a:spcPts val="0"/>
              </a:spcAft>
              <a:buNone/>
            </a:pPr>
            <a:r>
              <a:t/>
            </a:r>
            <a:endParaRPr b="1">
              <a:solidFill>
                <a:schemeClr val="accent3"/>
              </a:solidFill>
              <a:latin typeface="Average"/>
              <a:ea typeface="Average"/>
              <a:cs typeface="Average"/>
              <a:sym typeface="Average"/>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7"/>
          <p:cNvSpPr txBox="1"/>
          <p:nvPr/>
        </p:nvSpPr>
        <p:spPr>
          <a:xfrm>
            <a:off x="440575" y="286275"/>
            <a:ext cx="7795500" cy="6696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None/>
            </a:pPr>
            <a:r>
              <a:rPr lang="en" sz="3000">
                <a:solidFill>
                  <a:schemeClr val="accent3"/>
                </a:solidFill>
                <a:latin typeface="Oswald"/>
                <a:ea typeface="Oswald"/>
                <a:cs typeface="Oswald"/>
                <a:sym typeface="Oswald"/>
              </a:rPr>
              <a:t>Task 11 - Tv Shows with maximum episodes</a:t>
            </a:r>
            <a:endParaRPr sz="3000">
              <a:solidFill>
                <a:schemeClr val="accent3"/>
              </a:solidFill>
              <a:latin typeface="Oswald"/>
              <a:ea typeface="Oswald"/>
              <a:cs typeface="Oswald"/>
              <a:sym typeface="Oswald"/>
            </a:endParaRPr>
          </a:p>
        </p:txBody>
      </p:sp>
      <p:sp>
        <p:nvSpPr>
          <p:cNvPr id="150" name="Google Shape;150;p27"/>
          <p:cNvSpPr txBox="1"/>
          <p:nvPr/>
        </p:nvSpPr>
        <p:spPr>
          <a:xfrm>
            <a:off x="440575" y="955875"/>
            <a:ext cx="7795500" cy="3828300"/>
          </a:xfrm>
          <a:prstGeom prst="rect">
            <a:avLst/>
          </a:prstGeom>
          <a:noFill/>
          <a:ln>
            <a:noFill/>
          </a:ln>
        </p:spPr>
        <p:txBody>
          <a:bodyPr anchorCtr="0" anchor="t" bIns="91425" lIns="91425" spcFirstLastPara="1" rIns="91425" wrap="square" tIns="91425">
            <a:normAutofit/>
          </a:bodyPr>
          <a:lstStyle/>
          <a:p>
            <a:pPr indent="-342900" lvl="0" marL="457200" rtl="0" algn="l">
              <a:spcBef>
                <a:spcPts val="0"/>
              </a:spcBef>
              <a:spcAft>
                <a:spcPts val="0"/>
              </a:spcAft>
              <a:buClr>
                <a:schemeClr val="accent3"/>
              </a:buClr>
              <a:buSzPts val="1800"/>
              <a:buFont typeface="Average"/>
              <a:buChar char="★"/>
            </a:pPr>
            <a:r>
              <a:rPr b="1" lang="en" sz="1800">
                <a:solidFill>
                  <a:schemeClr val="accent3"/>
                </a:solidFill>
                <a:latin typeface="Average"/>
                <a:ea typeface="Average"/>
                <a:cs typeface="Average"/>
                <a:sym typeface="Average"/>
              </a:rPr>
              <a:t>Distribution of Episodes by Movie:</a:t>
            </a:r>
            <a:r>
              <a:rPr lang="en" sz="1800">
                <a:solidFill>
                  <a:schemeClr val="accent3"/>
                </a:solidFill>
                <a:latin typeface="Average"/>
                <a:ea typeface="Average"/>
                <a:cs typeface="Average"/>
                <a:sym typeface="Average"/>
              </a:rPr>
              <a:t> The pie chart displays the distribution of episodes across different movies.</a:t>
            </a:r>
            <a:endParaRPr sz="1800">
              <a:solidFill>
                <a:schemeClr val="accent3"/>
              </a:solidFill>
              <a:latin typeface="Average"/>
              <a:ea typeface="Average"/>
              <a:cs typeface="Average"/>
              <a:sym typeface="Average"/>
            </a:endParaRPr>
          </a:p>
          <a:p>
            <a:pPr indent="-342900" lvl="0" marL="457200" rtl="0" algn="l">
              <a:spcBef>
                <a:spcPts val="0"/>
              </a:spcBef>
              <a:spcAft>
                <a:spcPts val="0"/>
              </a:spcAft>
              <a:buClr>
                <a:schemeClr val="accent3"/>
              </a:buClr>
              <a:buSzPts val="1800"/>
              <a:buFont typeface="Average"/>
              <a:buChar char="★"/>
            </a:pPr>
            <a:r>
              <a:rPr b="1" lang="en" sz="1800">
                <a:solidFill>
                  <a:schemeClr val="accent3"/>
                </a:solidFill>
                <a:latin typeface="Average"/>
                <a:ea typeface="Average"/>
                <a:cs typeface="Average"/>
                <a:sym typeface="Average"/>
              </a:rPr>
              <a:t>Movie with the Highest Number of Episodes:</a:t>
            </a:r>
            <a:r>
              <a:rPr lang="en" sz="1800">
                <a:solidFill>
                  <a:schemeClr val="accent3"/>
                </a:solidFill>
                <a:latin typeface="Average"/>
                <a:ea typeface="Average"/>
                <a:cs typeface="Average"/>
                <a:sym typeface="Average"/>
              </a:rPr>
              <a:t> The movie with the highest number of episodes is represented by the largest slice in the pie chart.</a:t>
            </a:r>
            <a:endParaRPr sz="1800">
              <a:solidFill>
                <a:schemeClr val="accent3"/>
              </a:solidFill>
              <a:latin typeface="Average"/>
              <a:ea typeface="Average"/>
              <a:cs typeface="Average"/>
              <a:sym typeface="Average"/>
            </a:endParaRPr>
          </a:p>
          <a:p>
            <a:pPr indent="-342900" lvl="0" marL="457200" rtl="0" algn="l">
              <a:spcBef>
                <a:spcPts val="0"/>
              </a:spcBef>
              <a:spcAft>
                <a:spcPts val="0"/>
              </a:spcAft>
              <a:buClr>
                <a:schemeClr val="accent3"/>
              </a:buClr>
              <a:buSzPts val="1800"/>
              <a:buFont typeface="Average"/>
              <a:buChar char="★"/>
            </a:pPr>
            <a:r>
              <a:rPr b="1" lang="en" sz="1800">
                <a:solidFill>
                  <a:schemeClr val="accent3"/>
                </a:solidFill>
                <a:latin typeface="Average"/>
                <a:ea typeface="Average"/>
                <a:cs typeface="Average"/>
                <a:sym typeface="Average"/>
              </a:rPr>
              <a:t>Movie with the Lowest Number of Episodes:</a:t>
            </a:r>
            <a:r>
              <a:rPr lang="en" sz="1800">
                <a:solidFill>
                  <a:schemeClr val="accent3"/>
                </a:solidFill>
                <a:latin typeface="Average"/>
                <a:ea typeface="Average"/>
                <a:cs typeface="Average"/>
                <a:sym typeface="Average"/>
              </a:rPr>
              <a:t> The movies with the lowest number of episodes are represented by the smallest slices in the pie chart</a:t>
            </a:r>
            <a:endParaRPr sz="1800">
              <a:solidFill>
                <a:schemeClr val="accent3"/>
              </a:solidFill>
              <a:latin typeface="Average"/>
              <a:ea typeface="Average"/>
              <a:cs typeface="Average"/>
              <a:sym typeface="Average"/>
            </a:endParaRPr>
          </a:p>
          <a:p>
            <a:pPr indent="0" lvl="0" marL="457200" rtl="0" algn="l">
              <a:spcBef>
                <a:spcPts val="0"/>
              </a:spcBef>
              <a:spcAft>
                <a:spcPts val="0"/>
              </a:spcAft>
              <a:buNone/>
            </a:pPr>
            <a:r>
              <a:t/>
            </a:r>
            <a:endParaRPr sz="1800">
              <a:solidFill>
                <a:schemeClr val="accent3"/>
              </a:solidFill>
              <a:latin typeface="Average"/>
              <a:ea typeface="Average"/>
              <a:cs typeface="Average"/>
              <a:sym typeface="Average"/>
            </a:endParaRPr>
          </a:p>
          <a:p>
            <a:pPr indent="0" lvl="0" marL="457200" rtl="0" algn="l">
              <a:spcBef>
                <a:spcPts val="0"/>
              </a:spcBef>
              <a:spcAft>
                <a:spcPts val="0"/>
              </a:spcAft>
              <a:buNone/>
            </a:pPr>
            <a:r>
              <a:t/>
            </a:r>
            <a:endParaRPr b="1" sz="1800">
              <a:solidFill>
                <a:schemeClr val="accent3"/>
              </a:solidFill>
              <a:latin typeface="Average"/>
              <a:ea typeface="Average"/>
              <a:cs typeface="Average"/>
              <a:sym typeface="Average"/>
            </a:endParaRPr>
          </a:p>
        </p:txBody>
      </p:sp>
      <p:pic>
        <p:nvPicPr>
          <p:cNvPr id="151" name="Google Shape;151;p27"/>
          <p:cNvPicPr preferRelativeResize="0"/>
          <p:nvPr/>
        </p:nvPicPr>
        <p:blipFill>
          <a:blip r:embed="rId3">
            <a:alphaModFix/>
          </a:blip>
          <a:stretch>
            <a:fillRect/>
          </a:stretch>
        </p:blipFill>
        <p:spPr>
          <a:xfrm>
            <a:off x="1841375" y="2731075"/>
            <a:ext cx="4544674" cy="220925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8"/>
          <p:cNvSpPr txBox="1"/>
          <p:nvPr/>
        </p:nvSpPr>
        <p:spPr>
          <a:xfrm>
            <a:off x="440575" y="286275"/>
            <a:ext cx="7795500" cy="6696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None/>
            </a:pPr>
            <a:r>
              <a:rPr lang="en" sz="3000">
                <a:solidFill>
                  <a:schemeClr val="accent3"/>
                </a:solidFill>
                <a:latin typeface="Oswald"/>
                <a:ea typeface="Oswald"/>
                <a:cs typeface="Oswald"/>
                <a:sym typeface="Oswald"/>
              </a:rPr>
              <a:t>Task 12- Distribution of Running Time</a:t>
            </a:r>
            <a:endParaRPr sz="3000">
              <a:solidFill>
                <a:schemeClr val="accent3"/>
              </a:solidFill>
              <a:latin typeface="Oswald"/>
              <a:ea typeface="Oswald"/>
              <a:cs typeface="Oswald"/>
              <a:sym typeface="Oswald"/>
            </a:endParaRPr>
          </a:p>
        </p:txBody>
      </p:sp>
      <p:sp>
        <p:nvSpPr>
          <p:cNvPr id="157" name="Google Shape;157;p28"/>
          <p:cNvSpPr txBox="1"/>
          <p:nvPr/>
        </p:nvSpPr>
        <p:spPr>
          <a:xfrm>
            <a:off x="440575" y="955875"/>
            <a:ext cx="7795500" cy="3828300"/>
          </a:xfrm>
          <a:prstGeom prst="rect">
            <a:avLst/>
          </a:prstGeom>
          <a:noFill/>
          <a:ln>
            <a:noFill/>
          </a:ln>
        </p:spPr>
        <p:txBody>
          <a:bodyPr anchorCtr="0" anchor="t" bIns="91425" lIns="91425" spcFirstLastPara="1" rIns="91425" wrap="square" tIns="91425">
            <a:normAutofit/>
          </a:bodyPr>
          <a:lstStyle/>
          <a:p>
            <a:pPr indent="-342900" lvl="0" marL="457200" rtl="0" algn="l">
              <a:spcBef>
                <a:spcPts val="0"/>
              </a:spcBef>
              <a:spcAft>
                <a:spcPts val="0"/>
              </a:spcAft>
              <a:buClr>
                <a:schemeClr val="accent3"/>
              </a:buClr>
              <a:buSzPts val="1800"/>
              <a:buFont typeface="Average"/>
              <a:buChar char="➢"/>
            </a:pPr>
            <a:r>
              <a:rPr b="1" lang="en" sz="1800">
                <a:solidFill>
                  <a:schemeClr val="accent3"/>
                </a:solidFill>
                <a:latin typeface="Average"/>
                <a:ea typeface="Average"/>
                <a:cs typeface="Average"/>
                <a:sym typeface="Average"/>
              </a:rPr>
              <a:t>Distribution of Running Times:</a:t>
            </a:r>
            <a:r>
              <a:rPr lang="en" sz="1800">
                <a:solidFill>
                  <a:schemeClr val="accent3"/>
                </a:solidFill>
                <a:latin typeface="Average"/>
                <a:ea typeface="Average"/>
                <a:cs typeface="Average"/>
                <a:sym typeface="Average"/>
              </a:rPr>
              <a:t> The bar chart displays the distribution of running times across different movies.</a:t>
            </a:r>
            <a:endParaRPr sz="1800">
              <a:solidFill>
                <a:schemeClr val="accent3"/>
              </a:solidFill>
              <a:latin typeface="Average"/>
              <a:ea typeface="Average"/>
              <a:cs typeface="Average"/>
              <a:sym typeface="Average"/>
            </a:endParaRPr>
          </a:p>
          <a:p>
            <a:pPr indent="-342900" lvl="0" marL="457200" rtl="0" algn="l">
              <a:spcBef>
                <a:spcPts val="0"/>
              </a:spcBef>
              <a:spcAft>
                <a:spcPts val="0"/>
              </a:spcAft>
              <a:buClr>
                <a:schemeClr val="accent3"/>
              </a:buClr>
              <a:buSzPts val="1800"/>
              <a:buFont typeface="Average"/>
              <a:buChar char="➢"/>
            </a:pPr>
            <a:r>
              <a:rPr b="1" lang="en" sz="1800">
                <a:solidFill>
                  <a:schemeClr val="accent3"/>
                </a:solidFill>
                <a:latin typeface="Average"/>
                <a:ea typeface="Average"/>
                <a:cs typeface="Average"/>
                <a:sym typeface="Average"/>
              </a:rPr>
              <a:t>Movie with the Longest Running Time:</a:t>
            </a:r>
            <a:r>
              <a:rPr lang="en" sz="1800">
                <a:solidFill>
                  <a:schemeClr val="accent3"/>
                </a:solidFill>
                <a:latin typeface="Average"/>
                <a:ea typeface="Average"/>
                <a:cs typeface="Average"/>
                <a:sym typeface="Average"/>
              </a:rPr>
              <a:t> The movie with the longest running time is represented by the tallest bar in the chart.</a:t>
            </a:r>
            <a:endParaRPr sz="1800">
              <a:solidFill>
                <a:schemeClr val="accent3"/>
              </a:solidFill>
              <a:latin typeface="Average"/>
              <a:ea typeface="Average"/>
              <a:cs typeface="Average"/>
              <a:sym typeface="Average"/>
            </a:endParaRPr>
          </a:p>
          <a:p>
            <a:pPr indent="-342900" lvl="0" marL="457200" rtl="0" algn="l">
              <a:spcBef>
                <a:spcPts val="0"/>
              </a:spcBef>
              <a:spcAft>
                <a:spcPts val="0"/>
              </a:spcAft>
              <a:buClr>
                <a:schemeClr val="accent3"/>
              </a:buClr>
              <a:buSzPts val="1800"/>
              <a:buFont typeface="Average"/>
              <a:buChar char="➢"/>
            </a:pPr>
            <a:r>
              <a:rPr b="1" lang="en" sz="1800">
                <a:solidFill>
                  <a:schemeClr val="accent3"/>
                </a:solidFill>
                <a:latin typeface="Average"/>
                <a:ea typeface="Average"/>
                <a:cs typeface="Average"/>
                <a:sym typeface="Average"/>
              </a:rPr>
              <a:t>Movie with the Shortest Running Time:</a:t>
            </a:r>
            <a:r>
              <a:rPr lang="en" sz="1800">
                <a:solidFill>
                  <a:schemeClr val="accent3"/>
                </a:solidFill>
                <a:latin typeface="Average"/>
                <a:ea typeface="Average"/>
                <a:cs typeface="Average"/>
                <a:sym typeface="Average"/>
              </a:rPr>
              <a:t> The movie with the shortest running time is represented by the shortest bar in the chart.</a:t>
            </a:r>
            <a:endParaRPr sz="1800">
              <a:solidFill>
                <a:schemeClr val="accent3"/>
              </a:solidFill>
              <a:latin typeface="Average"/>
              <a:ea typeface="Average"/>
              <a:cs typeface="Average"/>
              <a:sym typeface="Average"/>
            </a:endParaRPr>
          </a:p>
          <a:p>
            <a:pPr indent="0" lvl="0" marL="457200" rtl="0" algn="l">
              <a:spcBef>
                <a:spcPts val="0"/>
              </a:spcBef>
              <a:spcAft>
                <a:spcPts val="0"/>
              </a:spcAft>
              <a:buNone/>
            </a:pPr>
            <a:r>
              <a:t/>
            </a:r>
            <a:endParaRPr b="1" sz="1800">
              <a:solidFill>
                <a:schemeClr val="accent3"/>
              </a:solidFill>
              <a:latin typeface="Average"/>
              <a:ea typeface="Average"/>
              <a:cs typeface="Average"/>
              <a:sym typeface="Average"/>
            </a:endParaRPr>
          </a:p>
        </p:txBody>
      </p:sp>
      <p:pic>
        <p:nvPicPr>
          <p:cNvPr id="158" name="Google Shape;158;p28"/>
          <p:cNvPicPr preferRelativeResize="0"/>
          <p:nvPr/>
        </p:nvPicPr>
        <p:blipFill>
          <a:blip r:embed="rId3">
            <a:alphaModFix/>
          </a:blip>
          <a:stretch>
            <a:fillRect/>
          </a:stretch>
        </p:blipFill>
        <p:spPr>
          <a:xfrm>
            <a:off x="985925" y="2752450"/>
            <a:ext cx="6608501" cy="220925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9"/>
          <p:cNvSpPr txBox="1"/>
          <p:nvPr/>
        </p:nvSpPr>
        <p:spPr>
          <a:xfrm>
            <a:off x="440575" y="286275"/>
            <a:ext cx="7795500" cy="6696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None/>
            </a:pPr>
            <a:r>
              <a:rPr lang="en" sz="3000">
                <a:solidFill>
                  <a:schemeClr val="accent3"/>
                </a:solidFill>
                <a:latin typeface="Oswald"/>
                <a:ea typeface="Oswald"/>
                <a:cs typeface="Oswald"/>
                <a:sym typeface="Oswald"/>
              </a:rPr>
              <a:t>Specific insights,Trends and Pattern</a:t>
            </a:r>
            <a:endParaRPr sz="3000">
              <a:solidFill>
                <a:schemeClr val="accent3"/>
              </a:solidFill>
              <a:latin typeface="Oswald"/>
              <a:ea typeface="Oswald"/>
              <a:cs typeface="Oswald"/>
              <a:sym typeface="Oswald"/>
            </a:endParaRPr>
          </a:p>
        </p:txBody>
      </p:sp>
      <p:sp>
        <p:nvSpPr>
          <p:cNvPr id="164" name="Google Shape;164;p29"/>
          <p:cNvSpPr txBox="1"/>
          <p:nvPr/>
        </p:nvSpPr>
        <p:spPr>
          <a:xfrm>
            <a:off x="440575" y="955875"/>
            <a:ext cx="7795500" cy="40209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000">
                <a:solidFill>
                  <a:schemeClr val="accent3"/>
                </a:solidFill>
                <a:latin typeface="Average"/>
                <a:ea typeface="Average"/>
                <a:cs typeface="Average"/>
                <a:sym typeface="Average"/>
              </a:rPr>
              <a:t>M</a:t>
            </a:r>
            <a:r>
              <a:rPr b="1" lang="en" sz="1200">
                <a:solidFill>
                  <a:schemeClr val="accent3"/>
                </a:solidFill>
                <a:latin typeface="Average"/>
                <a:ea typeface="Average"/>
                <a:cs typeface="Average"/>
                <a:sym typeface="Average"/>
              </a:rPr>
              <a:t>ovie Distribution:</a:t>
            </a:r>
            <a:br>
              <a:rPr b="1" lang="en" sz="1200">
                <a:solidFill>
                  <a:schemeClr val="accent3"/>
                </a:solidFill>
                <a:latin typeface="Average"/>
                <a:ea typeface="Average"/>
                <a:cs typeface="Average"/>
                <a:sym typeface="Average"/>
              </a:rPr>
            </a:br>
            <a:endParaRPr b="1" sz="1200">
              <a:solidFill>
                <a:schemeClr val="accent3"/>
              </a:solidFill>
              <a:latin typeface="Average"/>
              <a:ea typeface="Average"/>
              <a:cs typeface="Average"/>
              <a:sym typeface="Average"/>
            </a:endParaRPr>
          </a:p>
          <a:p>
            <a:pPr indent="-304800" lvl="0" marL="457200" rtl="0" algn="l">
              <a:lnSpc>
                <a:spcPct val="100000"/>
              </a:lnSpc>
              <a:spcBef>
                <a:spcPts val="1200"/>
              </a:spcBef>
              <a:spcAft>
                <a:spcPts val="0"/>
              </a:spcAft>
              <a:buClr>
                <a:schemeClr val="accent3"/>
              </a:buClr>
              <a:buSzPts val="1200"/>
              <a:buChar char="●"/>
            </a:pPr>
            <a:r>
              <a:rPr b="1" lang="en" sz="1200">
                <a:solidFill>
                  <a:schemeClr val="accent3"/>
                </a:solidFill>
                <a:latin typeface="Average"/>
                <a:ea typeface="Average"/>
                <a:cs typeface="Average"/>
                <a:sym typeface="Average"/>
              </a:rPr>
              <a:t>Genre:</a:t>
            </a:r>
            <a:r>
              <a:rPr lang="en" sz="1200">
                <a:solidFill>
                  <a:schemeClr val="accent3"/>
                </a:solidFill>
                <a:latin typeface="Average"/>
                <a:ea typeface="Average"/>
                <a:cs typeface="Average"/>
                <a:sym typeface="Average"/>
              </a:rPr>
              <a:t> Drama appears to be the most popular genre, followed by Action and Comedy.</a:t>
            </a:r>
            <a:endParaRPr sz="1200">
              <a:solidFill>
                <a:schemeClr val="accent3"/>
              </a:solidFill>
              <a:latin typeface="Average"/>
              <a:ea typeface="Average"/>
              <a:cs typeface="Average"/>
              <a:sym typeface="Average"/>
            </a:endParaRPr>
          </a:p>
          <a:p>
            <a:pPr indent="-304800" lvl="0" marL="457200" rtl="0" algn="l">
              <a:lnSpc>
                <a:spcPct val="100000"/>
              </a:lnSpc>
              <a:spcBef>
                <a:spcPts val="0"/>
              </a:spcBef>
              <a:spcAft>
                <a:spcPts val="0"/>
              </a:spcAft>
              <a:buClr>
                <a:schemeClr val="accent3"/>
              </a:buClr>
              <a:buSzPts val="1200"/>
              <a:buChar char="●"/>
            </a:pPr>
            <a:r>
              <a:rPr b="1" lang="en" sz="1200">
                <a:solidFill>
                  <a:schemeClr val="accent3"/>
                </a:solidFill>
                <a:latin typeface="Average"/>
                <a:ea typeface="Average"/>
                <a:cs typeface="Average"/>
                <a:sym typeface="Average"/>
              </a:rPr>
              <a:t>Age Rating:</a:t>
            </a:r>
            <a:r>
              <a:rPr lang="en" sz="1200">
                <a:solidFill>
                  <a:schemeClr val="accent3"/>
                </a:solidFill>
                <a:latin typeface="Average"/>
                <a:ea typeface="Average"/>
                <a:cs typeface="Average"/>
                <a:sym typeface="Average"/>
              </a:rPr>
              <a:t> U/A 13+ is the most common age rating for movies.</a:t>
            </a:r>
            <a:endParaRPr sz="1200">
              <a:solidFill>
                <a:schemeClr val="accent3"/>
              </a:solidFill>
              <a:latin typeface="Average"/>
              <a:ea typeface="Average"/>
              <a:cs typeface="Average"/>
              <a:sym typeface="Average"/>
            </a:endParaRPr>
          </a:p>
          <a:p>
            <a:pPr indent="-304800" lvl="0" marL="457200" rtl="0" algn="l">
              <a:lnSpc>
                <a:spcPct val="100000"/>
              </a:lnSpc>
              <a:spcBef>
                <a:spcPts val="0"/>
              </a:spcBef>
              <a:spcAft>
                <a:spcPts val="0"/>
              </a:spcAft>
              <a:buClr>
                <a:schemeClr val="accent3"/>
              </a:buClr>
              <a:buSzPts val="1200"/>
              <a:buChar char="●"/>
            </a:pPr>
            <a:r>
              <a:rPr b="1" lang="en" sz="1200">
                <a:solidFill>
                  <a:schemeClr val="accent3"/>
                </a:solidFill>
                <a:latin typeface="Average"/>
                <a:ea typeface="Average"/>
                <a:cs typeface="Average"/>
                <a:sym typeface="Average"/>
              </a:rPr>
              <a:t>Release Year:</a:t>
            </a:r>
            <a:r>
              <a:rPr lang="en" sz="1200">
                <a:solidFill>
                  <a:schemeClr val="accent3"/>
                </a:solidFill>
                <a:latin typeface="Average"/>
                <a:ea typeface="Average"/>
                <a:cs typeface="Average"/>
                <a:sym typeface="Average"/>
              </a:rPr>
              <a:t> The number of movie releases has increased over the years.</a:t>
            </a:r>
            <a:endParaRPr sz="1200">
              <a:solidFill>
                <a:schemeClr val="accent3"/>
              </a:solidFill>
              <a:latin typeface="Average"/>
              <a:ea typeface="Average"/>
              <a:cs typeface="Average"/>
              <a:sym typeface="Average"/>
            </a:endParaRPr>
          </a:p>
          <a:p>
            <a:pPr indent="-304800" lvl="0" marL="457200" rtl="0" algn="l">
              <a:lnSpc>
                <a:spcPct val="100000"/>
              </a:lnSpc>
              <a:spcBef>
                <a:spcPts val="0"/>
              </a:spcBef>
              <a:spcAft>
                <a:spcPts val="0"/>
              </a:spcAft>
              <a:buClr>
                <a:schemeClr val="accent3"/>
              </a:buClr>
              <a:buSzPts val="1200"/>
              <a:buChar char="●"/>
            </a:pPr>
            <a:r>
              <a:rPr b="1" lang="en" sz="1200">
                <a:solidFill>
                  <a:schemeClr val="accent3"/>
                </a:solidFill>
                <a:latin typeface="Average"/>
                <a:ea typeface="Average"/>
                <a:cs typeface="Average"/>
                <a:sym typeface="Average"/>
              </a:rPr>
              <a:t>Movie Type:</a:t>
            </a:r>
            <a:r>
              <a:rPr lang="en" sz="1200">
                <a:solidFill>
                  <a:schemeClr val="accent3"/>
                </a:solidFill>
                <a:latin typeface="Average"/>
                <a:ea typeface="Average"/>
                <a:cs typeface="Average"/>
                <a:sym typeface="Average"/>
              </a:rPr>
              <a:t> Movies are more prevalent than TV shows.</a:t>
            </a:r>
            <a:endParaRPr sz="1200">
              <a:solidFill>
                <a:schemeClr val="accent3"/>
              </a:solidFill>
              <a:latin typeface="Average"/>
              <a:ea typeface="Average"/>
              <a:cs typeface="Average"/>
              <a:sym typeface="Average"/>
            </a:endParaRPr>
          </a:p>
          <a:p>
            <a:pPr indent="0" lvl="0" marL="0" rtl="0" algn="l">
              <a:lnSpc>
                <a:spcPct val="100000"/>
              </a:lnSpc>
              <a:spcBef>
                <a:spcPts val="1200"/>
              </a:spcBef>
              <a:spcAft>
                <a:spcPts val="0"/>
              </a:spcAft>
              <a:buNone/>
            </a:pPr>
            <a:r>
              <a:rPr b="1" lang="en" sz="1200">
                <a:solidFill>
                  <a:schemeClr val="accent3"/>
                </a:solidFill>
                <a:latin typeface="Average"/>
                <a:ea typeface="Average"/>
                <a:cs typeface="Average"/>
                <a:sym typeface="Average"/>
              </a:rPr>
              <a:t>Running Time:</a:t>
            </a:r>
            <a:br>
              <a:rPr b="1" lang="en" sz="1200">
                <a:solidFill>
                  <a:schemeClr val="accent3"/>
                </a:solidFill>
                <a:latin typeface="Average"/>
                <a:ea typeface="Average"/>
                <a:cs typeface="Average"/>
                <a:sym typeface="Average"/>
              </a:rPr>
            </a:br>
            <a:endParaRPr b="1" sz="1200">
              <a:solidFill>
                <a:schemeClr val="accent3"/>
              </a:solidFill>
              <a:latin typeface="Average"/>
              <a:ea typeface="Average"/>
              <a:cs typeface="Average"/>
              <a:sym typeface="Average"/>
            </a:endParaRPr>
          </a:p>
          <a:p>
            <a:pPr indent="-304800" lvl="0" marL="457200" rtl="0" algn="l">
              <a:lnSpc>
                <a:spcPct val="100000"/>
              </a:lnSpc>
              <a:spcBef>
                <a:spcPts val="1200"/>
              </a:spcBef>
              <a:spcAft>
                <a:spcPts val="0"/>
              </a:spcAft>
              <a:buClr>
                <a:schemeClr val="accent3"/>
              </a:buClr>
              <a:buSzPts val="1200"/>
              <a:buChar char="●"/>
            </a:pPr>
            <a:r>
              <a:rPr b="1" lang="en" sz="1200">
                <a:solidFill>
                  <a:schemeClr val="accent3"/>
                </a:solidFill>
                <a:latin typeface="Average"/>
                <a:ea typeface="Average"/>
                <a:cs typeface="Average"/>
                <a:sym typeface="Average"/>
              </a:rPr>
              <a:t>Average Running Time:</a:t>
            </a:r>
            <a:r>
              <a:rPr lang="en" sz="1200">
                <a:solidFill>
                  <a:schemeClr val="accent3"/>
                </a:solidFill>
                <a:latin typeface="Average"/>
                <a:ea typeface="Average"/>
                <a:cs typeface="Average"/>
                <a:sym typeface="Average"/>
              </a:rPr>
              <a:t> The average running time varies across genres.</a:t>
            </a:r>
            <a:endParaRPr sz="1200">
              <a:solidFill>
                <a:schemeClr val="accent3"/>
              </a:solidFill>
              <a:latin typeface="Average"/>
              <a:ea typeface="Average"/>
              <a:cs typeface="Average"/>
              <a:sym typeface="Average"/>
            </a:endParaRPr>
          </a:p>
          <a:p>
            <a:pPr indent="-304800" lvl="0" marL="457200" rtl="0" algn="l">
              <a:lnSpc>
                <a:spcPct val="100000"/>
              </a:lnSpc>
              <a:spcBef>
                <a:spcPts val="0"/>
              </a:spcBef>
              <a:spcAft>
                <a:spcPts val="0"/>
              </a:spcAft>
              <a:buClr>
                <a:schemeClr val="accent3"/>
              </a:buClr>
              <a:buSzPts val="1200"/>
              <a:buChar char="●"/>
            </a:pPr>
            <a:r>
              <a:rPr b="1" lang="en" sz="1200">
                <a:solidFill>
                  <a:schemeClr val="accent3"/>
                </a:solidFill>
                <a:latin typeface="Average"/>
                <a:ea typeface="Average"/>
                <a:cs typeface="Average"/>
                <a:sym typeface="Average"/>
              </a:rPr>
              <a:t>Movie Duration:</a:t>
            </a:r>
            <a:r>
              <a:rPr lang="en" sz="1200">
                <a:solidFill>
                  <a:schemeClr val="accent3"/>
                </a:solidFill>
                <a:latin typeface="Average"/>
                <a:ea typeface="Average"/>
                <a:cs typeface="Average"/>
                <a:sym typeface="Average"/>
              </a:rPr>
              <a:t> There's a wide range of movie durations, with some movies being significantly longer than others.</a:t>
            </a:r>
            <a:endParaRPr sz="1200">
              <a:solidFill>
                <a:schemeClr val="accent3"/>
              </a:solidFill>
              <a:latin typeface="Average"/>
              <a:ea typeface="Average"/>
              <a:cs typeface="Average"/>
              <a:sym typeface="Average"/>
            </a:endParaRPr>
          </a:p>
          <a:p>
            <a:pPr indent="-304800" lvl="0" marL="457200" rtl="0" algn="l">
              <a:lnSpc>
                <a:spcPct val="100000"/>
              </a:lnSpc>
              <a:spcBef>
                <a:spcPts val="0"/>
              </a:spcBef>
              <a:spcAft>
                <a:spcPts val="0"/>
              </a:spcAft>
              <a:buClr>
                <a:schemeClr val="accent3"/>
              </a:buClr>
              <a:buSzPts val="1200"/>
              <a:buChar char="●"/>
            </a:pPr>
            <a:r>
              <a:rPr b="1" lang="en" sz="1200">
                <a:solidFill>
                  <a:schemeClr val="accent3"/>
                </a:solidFill>
                <a:latin typeface="Average"/>
                <a:ea typeface="Average"/>
                <a:cs typeface="Average"/>
                <a:sym typeface="Average"/>
              </a:rPr>
              <a:t>Year vs. Running Time:</a:t>
            </a:r>
            <a:r>
              <a:rPr lang="en" sz="1200">
                <a:solidFill>
                  <a:schemeClr val="accent3"/>
                </a:solidFill>
                <a:latin typeface="Average"/>
                <a:ea typeface="Average"/>
                <a:cs typeface="Average"/>
                <a:sym typeface="Average"/>
              </a:rPr>
              <a:t> There might be a slight negative correlation between the year of release and running time, indicating that movies are getting shorter over time.</a:t>
            </a:r>
            <a:endParaRPr sz="1200">
              <a:solidFill>
                <a:schemeClr val="accent3"/>
              </a:solidFill>
              <a:latin typeface="Average"/>
              <a:ea typeface="Average"/>
              <a:cs typeface="Average"/>
              <a:sym typeface="Average"/>
            </a:endParaRPr>
          </a:p>
          <a:p>
            <a:pPr indent="0" lvl="0" marL="0" rtl="0" algn="l">
              <a:lnSpc>
                <a:spcPct val="100000"/>
              </a:lnSpc>
              <a:spcBef>
                <a:spcPts val="1200"/>
              </a:spcBef>
              <a:spcAft>
                <a:spcPts val="0"/>
              </a:spcAft>
              <a:buNone/>
            </a:pPr>
            <a:r>
              <a:rPr b="1" lang="en" sz="1200">
                <a:solidFill>
                  <a:schemeClr val="accent3"/>
                </a:solidFill>
                <a:latin typeface="Average"/>
                <a:ea typeface="Average"/>
                <a:cs typeface="Average"/>
                <a:sym typeface="Average"/>
              </a:rPr>
              <a:t>Genre Preferences:</a:t>
            </a:r>
            <a:br>
              <a:rPr b="1" lang="en" sz="1200">
                <a:solidFill>
                  <a:schemeClr val="accent3"/>
                </a:solidFill>
                <a:latin typeface="Average"/>
                <a:ea typeface="Average"/>
                <a:cs typeface="Average"/>
                <a:sym typeface="Average"/>
              </a:rPr>
            </a:br>
            <a:endParaRPr b="1" sz="1200">
              <a:solidFill>
                <a:schemeClr val="accent3"/>
              </a:solidFill>
              <a:latin typeface="Average"/>
              <a:ea typeface="Average"/>
              <a:cs typeface="Average"/>
              <a:sym typeface="Average"/>
            </a:endParaRPr>
          </a:p>
          <a:p>
            <a:pPr indent="-304800" lvl="0" marL="457200" rtl="0" algn="l">
              <a:lnSpc>
                <a:spcPct val="100000"/>
              </a:lnSpc>
              <a:spcBef>
                <a:spcPts val="1200"/>
              </a:spcBef>
              <a:spcAft>
                <a:spcPts val="0"/>
              </a:spcAft>
              <a:buClr>
                <a:schemeClr val="accent3"/>
              </a:buClr>
              <a:buSzPts val="1200"/>
              <a:buChar char="●"/>
            </a:pPr>
            <a:r>
              <a:rPr b="1" lang="en" sz="1200">
                <a:solidFill>
                  <a:schemeClr val="accent3"/>
                </a:solidFill>
                <a:latin typeface="Average"/>
                <a:ea typeface="Average"/>
                <a:cs typeface="Average"/>
                <a:sym typeface="Average"/>
              </a:rPr>
              <a:t>Genre Popularity:</a:t>
            </a:r>
            <a:r>
              <a:rPr lang="en" sz="1200">
                <a:solidFill>
                  <a:schemeClr val="accent3"/>
                </a:solidFill>
                <a:latin typeface="Average"/>
                <a:ea typeface="Average"/>
                <a:cs typeface="Average"/>
                <a:sym typeface="Average"/>
              </a:rPr>
              <a:t> Certain genres like Drama, Action, and Comedy consistently have a higher number of movies.</a:t>
            </a:r>
            <a:endParaRPr sz="1200">
              <a:solidFill>
                <a:schemeClr val="accent3"/>
              </a:solidFill>
              <a:latin typeface="Average"/>
              <a:ea typeface="Average"/>
              <a:cs typeface="Average"/>
              <a:sym typeface="Average"/>
            </a:endParaRPr>
          </a:p>
          <a:p>
            <a:pPr indent="-304800" lvl="0" marL="457200" rtl="0" algn="l">
              <a:lnSpc>
                <a:spcPct val="100000"/>
              </a:lnSpc>
              <a:spcBef>
                <a:spcPts val="0"/>
              </a:spcBef>
              <a:spcAft>
                <a:spcPts val="0"/>
              </a:spcAft>
              <a:buClr>
                <a:schemeClr val="accent3"/>
              </a:buClr>
              <a:buSzPts val="1200"/>
              <a:buChar char="●"/>
            </a:pPr>
            <a:r>
              <a:rPr b="1" lang="en" sz="1200">
                <a:solidFill>
                  <a:schemeClr val="accent3"/>
                </a:solidFill>
                <a:latin typeface="Average"/>
                <a:ea typeface="Average"/>
                <a:cs typeface="Average"/>
                <a:sym typeface="Average"/>
              </a:rPr>
              <a:t>Genre-Age Rating Combinations:</a:t>
            </a:r>
            <a:r>
              <a:rPr lang="en" sz="1200">
                <a:solidFill>
                  <a:schemeClr val="accent3"/>
                </a:solidFill>
                <a:latin typeface="Average"/>
                <a:ea typeface="Average"/>
                <a:cs typeface="Average"/>
                <a:sym typeface="Average"/>
              </a:rPr>
              <a:t> Some genres are more prevalent in specific age ratings.</a:t>
            </a:r>
            <a:endParaRPr sz="1200">
              <a:solidFill>
                <a:schemeClr val="accent3"/>
              </a:solidFill>
              <a:latin typeface="Average"/>
              <a:ea typeface="Average"/>
              <a:cs typeface="Average"/>
              <a:sym typeface="Average"/>
            </a:endParaRPr>
          </a:p>
          <a:p>
            <a:pPr indent="0" lvl="0" marL="457200" rtl="0" algn="l">
              <a:spcBef>
                <a:spcPts val="1200"/>
              </a:spcBef>
              <a:spcAft>
                <a:spcPts val="0"/>
              </a:spcAft>
              <a:buNone/>
            </a:pPr>
            <a:r>
              <a:t/>
            </a:r>
            <a:endParaRPr b="1" sz="1000">
              <a:solidFill>
                <a:schemeClr val="accent3"/>
              </a:solidFill>
              <a:latin typeface="Average"/>
              <a:ea typeface="Average"/>
              <a:cs typeface="Average"/>
              <a:sym typeface="Average"/>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30"/>
          <p:cNvSpPr txBox="1"/>
          <p:nvPr/>
        </p:nvSpPr>
        <p:spPr>
          <a:xfrm>
            <a:off x="440575" y="286275"/>
            <a:ext cx="7795500" cy="6696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None/>
            </a:pPr>
            <a:r>
              <a:rPr lang="en" sz="3000">
                <a:solidFill>
                  <a:schemeClr val="accent3"/>
                </a:solidFill>
                <a:latin typeface="Oswald"/>
                <a:ea typeface="Oswald"/>
                <a:cs typeface="Oswald"/>
                <a:sym typeface="Oswald"/>
              </a:rPr>
              <a:t>Actionable Recommendation</a:t>
            </a:r>
            <a:endParaRPr sz="3000">
              <a:solidFill>
                <a:schemeClr val="accent3"/>
              </a:solidFill>
              <a:latin typeface="Oswald"/>
              <a:ea typeface="Oswald"/>
              <a:cs typeface="Oswald"/>
              <a:sym typeface="Oswald"/>
            </a:endParaRPr>
          </a:p>
        </p:txBody>
      </p:sp>
      <p:sp>
        <p:nvSpPr>
          <p:cNvPr id="170" name="Google Shape;170;p30"/>
          <p:cNvSpPr txBox="1"/>
          <p:nvPr/>
        </p:nvSpPr>
        <p:spPr>
          <a:xfrm>
            <a:off x="440575" y="955875"/>
            <a:ext cx="7795500" cy="4020900"/>
          </a:xfrm>
          <a:prstGeom prst="rect">
            <a:avLst/>
          </a:prstGeom>
          <a:noFill/>
          <a:ln>
            <a:noFill/>
          </a:ln>
        </p:spPr>
        <p:txBody>
          <a:bodyPr anchorCtr="0" anchor="t" bIns="91425" lIns="91425" spcFirstLastPara="1" rIns="91425" wrap="square" tIns="91425">
            <a:noAutofit/>
          </a:bodyPr>
          <a:lstStyle/>
          <a:p>
            <a:pPr indent="-304800" lvl="0" marL="457200" rtl="0" algn="l">
              <a:lnSpc>
                <a:spcPct val="115000"/>
              </a:lnSpc>
              <a:spcBef>
                <a:spcPts val="1200"/>
              </a:spcBef>
              <a:spcAft>
                <a:spcPts val="0"/>
              </a:spcAft>
              <a:buClr>
                <a:schemeClr val="accent3"/>
              </a:buClr>
              <a:buSzPts val="1200"/>
              <a:buFont typeface="Average"/>
              <a:buAutoNum type="arabicPeriod"/>
            </a:pPr>
            <a:r>
              <a:rPr b="1" lang="en" sz="1200">
                <a:solidFill>
                  <a:schemeClr val="accent3"/>
                </a:solidFill>
                <a:latin typeface="Average"/>
                <a:ea typeface="Average"/>
                <a:cs typeface="Average"/>
                <a:sym typeface="Average"/>
              </a:rPr>
              <a:t>Content Curation:</a:t>
            </a:r>
            <a:br>
              <a:rPr b="1" lang="en" sz="1200">
                <a:solidFill>
                  <a:schemeClr val="accent3"/>
                </a:solidFill>
                <a:latin typeface="Average"/>
                <a:ea typeface="Average"/>
                <a:cs typeface="Average"/>
                <a:sym typeface="Average"/>
              </a:rPr>
            </a:br>
            <a:endParaRPr b="1" sz="1200">
              <a:solidFill>
                <a:schemeClr val="accent3"/>
              </a:solidFill>
              <a:latin typeface="Average"/>
              <a:ea typeface="Average"/>
              <a:cs typeface="Average"/>
              <a:sym typeface="Average"/>
            </a:endParaRPr>
          </a:p>
          <a:p>
            <a:pPr indent="-304800" lvl="1" marL="914400" rtl="0" algn="l">
              <a:lnSpc>
                <a:spcPct val="115000"/>
              </a:lnSpc>
              <a:spcBef>
                <a:spcPts val="0"/>
              </a:spcBef>
              <a:spcAft>
                <a:spcPts val="0"/>
              </a:spcAft>
              <a:buClr>
                <a:schemeClr val="accent3"/>
              </a:buClr>
              <a:buSzPts val="1200"/>
              <a:buChar char="○"/>
            </a:pPr>
            <a:r>
              <a:rPr b="1" lang="en" sz="1200">
                <a:solidFill>
                  <a:schemeClr val="accent3"/>
                </a:solidFill>
                <a:latin typeface="Average"/>
                <a:ea typeface="Average"/>
                <a:cs typeface="Average"/>
                <a:sym typeface="Average"/>
              </a:rPr>
              <a:t>Personalized Recommendations:</a:t>
            </a:r>
            <a:r>
              <a:rPr lang="en" sz="1200">
                <a:solidFill>
                  <a:schemeClr val="accent3"/>
                </a:solidFill>
                <a:latin typeface="Average"/>
                <a:ea typeface="Average"/>
                <a:cs typeface="Average"/>
                <a:sym typeface="Average"/>
              </a:rPr>
              <a:t> Use the data to recommend movies based on user preferences for genre, age rating, and running time.</a:t>
            </a:r>
            <a:endParaRPr sz="1200">
              <a:solidFill>
                <a:schemeClr val="accent3"/>
              </a:solidFill>
              <a:latin typeface="Average"/>
              <a:ea typeface="Average"/>
              <a:cs typeface="Average"/>
              <a:sym typeface="Average"/>
            </a:endParaRPr>
          </a:p>
          <a:p>
            <a:pPr indent="-304800" lvl="1" marL="914400" rtl="0" algn="l">
              <a:lnSpc>
                <a:spcPct val="115000"/>
              </a:lnSpc>
              <a:spcBef>
                <a:spcPts val="0"/>
              </a:spcBef>
              <a:spcAft>
                <a:spcPts val="0"/>
              </a:spcAft>
              <a:buClr>
                <a:schemeClr val="accent3"/>
              </a:buClr>
              <a:buSzPts val="1200"/>
              <a:buChar char="○"/>
            </a:pPr>
            <a:r>
              <a:rPr b="1" lang="en" sz="1200">
                <a:solidFill>
                  <a:schemeClr val="accent3"/>
                </a:solidFill>
                <a:latin typeface="Average"/>
                <a:ea typeface="Average"/>
                <a:cs typeface="Average"/>
                <a:sym typeface="Average"/>
              </a:rPr>
              <a:t>Themed Content Collections:</a:t>
            </a:r>
            <a:r>
              <a:rPr lang="en" sz="1200">
                <a:solidFill>
                  <a:schemeClr val="accent3"/>
                </a:solidFill>
                <a:latin typeface="Average"/>
                <a:ea typeface="Average"/>
                <a:cs typeface="Average"/>
                <a:sym typeface="Average"/>
              </a:rPr>
              <a:t> Curate collections of movies based on specific themes or genres.</a:t>
            </a:r>
            <a:endParaRPr sz="1200">
              <a:solidFill>
                <a:schemeClr val="accent3"/>
              </a:solidFill>
              <a:latin typeface="Average"/>
              <a:ea typeface="Average"/>
              <a:cs typeface="Average"/>
              <a:sym typeface="Average"/>
            </a:endParaRPr>
          </a:p>
          <a:p>
            <a:pPr indent="-304800" lvl="1" marL="914400" rtl="0" algn="l">
              <a:lnSpc>
                <a:spcPct val="115000"/>
              </a:lnSpc>
              <a:spcBef>
                <a:spcPts val="0"/>
              </a:spcBef>
              <a:spcAft>
                <a:spcPts val="0"/>
              </a:spcAft>
              <a:buClr>
                <a:schemeClr val="accent3"/>
              </a:buClr>
              <a:buSzPts val="1200"/>
              <a:buChar char="○"/>
            </a:pPr>
            <a:r>
              <a:rPr b="1" lang="en" sz="1200">
                <a:solidFill>
                  <a:schemeClr val="accent3"/>
                </a:solidFill>
                <a:latin typeface="Average"/>
                <a:ea typeface="Average"/>
                <a:cs typeface="Average"/>
                <a:sym typeface="Average"/>
              </a:rPr>
              <a:t>Targeted Marketing:</a:t>
            </a:r>
            <a:r>
              <a:rPr lang="en" sz="1200">
                <a:solidFill>
                  <a:schemeClr val="accent3"/>
                </a:solidFill>
                <a:latin typeface="Average"/>
                <a:ea typeface="Average"/>
                <a:cs typeface="Average"/>
                <a:sym typeface="Average"/>
              </a:rPr>
              <a:t> Use the data to identify target audiences for specific genres or age ratings.</a:t>
            </a:r>
            <a:endParaRPr sz="1200">
              <a:solidFill>
                <a:schemeClr val="accent3"/>
              </a:solidFill>
              <a:latin typeface="Average"/>
              <a:ea typeface="Average"/>
              <a:cs typeface="Average"/>
              <a:sym typeface="Average"/>
            </a:endParaRPr>
          </a:p>
          <a:p>
            <a:pPr indent="-304800" lvl="0" marL="457200" rtl="0" algn="l">
              <a:lnSpc>
                <a:spcPct val="115000"/>
              </a:lnSpc>
              <a:spcBef>
                <a:spcPts val="0"/>
              </a:spcBef>
              <a:spcAft>
                <a:spcPts val="0"/>
              </a:spcAft>
              <a:buClr>
                <a:schemeClr val="accent3"/>
              </a:buClr>
              <a:buSzPts val="1200"/>
              <a:buFont typeface="Average"/>
              <a:buAutoNum type="arabicPeriod"/>
            </a:pPr>
            <a:r>
              <a:rPr b="1" lang="en" sz="1200">
                <a:solidFill>
                  <a:schemeClr val="accent3"/>
                </a:solidFill>
                <a:latin typeface="Average"/>
                <a:ea typeface="Average"/>
                <a:cs typeface="Average"/>
                <a:sym typeface="Average"/>
              </a:rPr>
              <a:t>User Experience:</a:t>
            </a:r>
            <a:br>
              <a:rPr b="1" lang="en" sz="1200">
                <a:solidFill>
                  <a:schemeClr val="accent3"/>
                </a:solidFill>
                <a:latin typeface="Average"/>
                <a:ea typeface="Average"/>
                <a:cs typeface="Average"/>
                <a:sym typeface="Average"/>
              </a:rPr>
            </a:br>
            <a:endParaRPr b="1" sz="1200">
              <a:solidFill>
                <a:schemeClr val="accent3"/>
              </a:solidFill>
              <a:latin typeface="Average"/>
              <a:ea typeface="Average"/>
              <a:cs typeface="Average"/>
              <a:sym typeface="Average"/>
            </a:endParaRPr>
          </a:p>
          <a:p>
            <a:pPr indent="-304800" lvl="1" marL="914400" rtl="0" algn="l">
              <a:lnSpc>
                <a:spcPct val="115000"/>
              </a:lnSpc>
              <a:spcBef>
                <a:spcPts val="0"/>
              </a:spcBef>
              <a:spcAft>
                <a:spcPts val="0"/>
              </a:spcAft>
              <a:buClr>
                <a:schemeClr val="accent3"/>
              </a:buClr>
              <a:buSzPts val="1200"/>
              <a:buChar char="○"/>
            </a:pPr>
            <a:r>
              <a:rPr b="1" lang="en" sz="1200">
                <a:solidFill>
                  <a:schemeClr val="accent3"/>
                </a:solidFill>
                <a:latin typeface="Average"/>
                <a:ea typeface="Average"/>
                <a:cs typeface="Average"/>
                <a:sym typeface="Average"/>
              </a:rPr>
              <a:t>Dynamic Playback Options:</a:t>
            </a:r>
            <a:r>
              <a:rPr lang="en" sz="1200">
                <a:solidFill>
                  <a:schemeClr val="accent3"/>
                </a:solidFill>
                <a:latin typeface="Average"/>
                <a:ea typeface="Average"/>
                <a:cs typeface="Average"/>
                <a:sym typeface="Average"/>
              </a:rPr>
              <a:t> Offer options like variable playback speed or skip intro/outro sequences to cater to different viewer preferences and time constraints.</a:t>
            </a:r>
            <a:endParaRPr sz="1200">
              <a:solidFill>
                <a:schemeClr val="accent3"/>
              </a:solidFill>
              <a:latin typeface="Average"/>
              <a:ea typeface="Average"/>
              <a:cs typeface="Average"/>
              <a:sym typeface="Average"/>
            </a:endParaRPr>
          </a:p>
          <a:p>
            <a:pPr indent="-304800" lvl="1" marL="914400" rtl="0" algn="l">
              <a:lnSpc>
                <a:spcPct val="115000"/>
              </a:lnSpc>
              <a:spcBef>
                <a:spcPts val="0"/>
              </a:spcBef>
              <a:spcAft>
                <a:spcPts val="0"/>
              </a:spcAft>
              <a:buClr>
                <a:schemeClr val="accent3"/>
              </a:buClr>
              <a:buSzPts val="1200"/>
              <a:buChar char="○"/>
            </a:pPr>
            <a:r>
              <a:rPr b="1" lang="en" sz="1200">
                <a:solidFill>
                  <a:schemeClr val="accent3"/>
                </a:solidFill>
                <a:latin typeface="Average"/>
                <a:ea typeface="Average"/>
                <a:cs typeface="Average"/>
                <a:sym typeface="Average"/>
              </a:rPr>
              <a:t>Adaptive Streaming:</a:t>
            </a:r>
            <a:r>
              <a:rPr lang="en" sz="1200">
                <a:solidFill>
                  <a:schemeClr val="accent3"/>
                </a:solidFill>
                <a:latin typeface="Average"/>
                <a:ea typeface="Average"/>
                <a:cs typeface="Average"/>
                <a:sym typeface="Average"/>
              </a:rPr>
              <a:t> Optimize video streaming quality based on network conditions and device capabilities to ensure smooth playback.</a:t>
            </a:r>
            <a:endParaRPr sz="1200">
              <a:solidFill>
                <a:schemeClr val="accent3"/>
              </a:solidFill>
              <a:latin typeface="Average"/>
              <a:ea typeface="Average"/>
              <a:cs typeface="Average"/>
              <a:sym typeface="Average"/>
            </a:endParaRPr>
          </a:p>
          <a:p>
            <a:pPr indent="-304800" lvl="0" marL="457200" rtl="0" algn="l">
              <a:lnSpc>
                <a:spcPct val="115000"/>
              </a:lnSpc>
              <a:spcBef>
                <a:spcPts val="0"/>
              </a:spcBef>
              <a:spcAft>
                <a:spcPts val="0"/>
              </a:spcAft>
              <a:buClr>
                <a:schemeClr val="accent3"/>
              </a:buClr>
              <a:buSzPts val="1200"/>
              <a:buFont typeface="Average"/>
              <a:buAutoNum type="arabicPeriod"/>
            </a:pPr>
            <a:r>
              <a:rPr b="1" lang="en" sz="1200">
                <a:solidFill>
                  <a:schemeClr val="accent3"/>
                </a:solidFill>
                <a:latin typeface="Average"/>
                <a:ea typeface="Average"/>
                <a:cs typeface="Average"/>
                <a:sym typeface="Average"/>
              </a:rPr>
              <a:t>Data-Driven Insights:</a:t>
            </a:r>
            <a:br>
              <a:rPr b="1" lang="en" sz="1200">
                <a:solidFill>
                  <a:schemeClr val="accent3"/>
                </a:solidFill>
                <a:latin typeface="Average"/>
                <a:ea typeface="Average"/>
                <a:cs typeface="Average"/>
                <a:sym typeface="Average"/>
              </a:rPr>
            </a:br>
            <a:endParaRPr b="1" sz="1200">
              <a:solidFill>
                <a:schemeClr val="accent3"/>
              </a:solidFill>
              <a:latin typeface="Average"/>
              <a:ea typeface="Average"/>
              <a:cs typeface="Average"/>
              <a:sym typeface="Average"/>
            </a:endParaRPr>
          </a:p>
          <a:p>
            <a:pPr indent="-304800" lvl="1" marL="914400" rtl="0" algn="l">
              <a:lnSpc>
                <a:spcPct val="115000"/>
              </a:lnSpc>
              <a:spcBef>
                <a:spcPts val="0"/>
              </a:spcBef>
              <a:spcAft>
                <a:spcPts val="0"/>
              </a:spcAft>
              <a:buClr>
                <a:schemeClr val="accent3"/>
              </a:buClr>
              <a:buSzPts val="1200"/>
              <a:buChar char="○"/>
            </a:pPr>
            <a:r>
              <a:rPr b="1" lang="en" sz="1200">
                <a:solidFill>
                  <a:schemeClr val="accent3"/>
                </a:solidFill>
                <a:latin typeface="Average"/>
                <a:ea typeface="Average"/>
                <a:cs typeface="Average"/>
                <a:sym typeface="Average"/>
              </a:rPr>
              <a:t>Genre Analysis:</a:t>
            </a:r>
            <a:r>
              <a:rPr lang="en" sz="1200">
                <a:solidFill>
                  <a:schemeClr val="accent3"/>
                </a:solidFill>
                <a:latin typeface="Average"/>
                <a:ea typeface="Average"/>
                <a:cs typeface="Average"/>
                <a:sym typeface="Average"/>
              </a:rPr>
              <a:t> Analyze the popularity of different genres over time.</a:t>
            </a:r>
            <a:endParaRPr sz="1200">
              <a:solidFill>
                <a:schemeClr val="accent3"/>
              </a:solidFill>
              <a:latin typeface="Average"/>
              <a:ea typeface="Average"/>
              <a:cs typeface="Average"/>
              <a:sym typeface="Average"/>
            </a:endParaRPr>
          </a:p>
          <a:p>
            <a:pPr indent="-304800" lvl="1" marL="914400" rtl="0" algn="l">
              <a:lnSpc>
                <a:spcPct val="115000"/>
              </a:lnSpc>
              <a:spcBef>
                <a:spcPts val="0"/>
              </a:spcBef>
              <a:spcAft>
                <a:spcPts val="0"/>
              </a:spcAft>
              <a:buClr>
                <a:schemeClr val="accent3"/>
              </a:buClr>
              <a:buSzPts val="1200"/>
              <a:buChar char="○"/>
            </a:pPr>
            <a:r>
              <a:rPr b="1" lang="en" sz="1200">
                <a:solidFill>
                  <a:schemeClr val="accent3"/>
                </a:solidFill>
                <a:latin typeface="Average"/>
                <a:ea typeface="Average"/>
                <a:cs typeface="Average"/>
                <a:sym typeface="Average"/>
              </a:rPr>
              <a:t>Audience Segmentation:</a:t>
            </a:r>
            <a:r>
              <a:rPr lang="en" sz="1200">
                <a:solidFill>
                  <a:schemeClr val="accent3"/>
                </a:solidFill>
                <a:latin typeface="Average"/>
                <a:ea typeface="Average"/>
                <a:cs typeface="Average"/>
                <a:sym typeface="Average"/>
              </a:rPr>
              <a:t> Segment audiences based on their preferred genres, age ratings, and running times.</a:t>
            </a:r>
            <a:endParaRPr sz="1200">
              <a:solidFill>
                <a:schemeClr val="accent3"/>
              </a:solidFill>
              <a:latin typeface="Average"/>
              <a:ea typeface="Average"/>
              <a:cs typeface="Average"/>
              <a:sym typeface="Average"/>
            </a:endParaRPr>
          </a:p>
          <a:p>
            <a:pPr indent="-304800" lvl="1" marL="914400" rtl="0" algn="l">
              <a:lnSpc>
                <a:spcPct val="115000"/>
              </a:lnSpc>
              <a:spcBef>
                <a:spcPts val="0"/>
              </a:spcBef>
              <a:spcAft>
                <a:spcPts val="0"/>
              </a:spcAft>
              <a:buClr>
                <a:schemeClr val="accent3"/>
              </a:buClr>
              <a:buSzPts val="1200"/>
              <a:buChar char="○"/>
            </a:pPr>
            <a:r>
              <a:rPr b="1" lang="en" sz="1200">
                <a:solidFill>
                  <a:schemeClr val="accent3"/>
                </a:solidFill>
                <a:latin typeface="Average"/>
                <a:ea typeface="Average"/>
                <a:cs typeface="Average"/>
                <a:sym typeface="Average"/>
              </a:rPr>
              <a:t>Content Gaps:</a:t>
            </a:r>
            <a:r>
              <a:rPr lang="en" sz="1200">
                <a:solidFill>
                  <a:schemeClr val="accent3"/>
                </a:solidFill>
                <a:latin typeface="Average"/>
                <a:ea typeface="Average"/>
                <a:cs typeface="Average"/>
                <a:sym typeface="Average"/>
              </a:rPr>
              <a:t> Identify genres or age ratings with fewer movies to fill content gaps.</a:t>
            </a:r>
            <a:endParaRPr sz="1200">
              <a:solidFill>
                <a:schemeClr val="accent3"/>
              </a:solidFill>
              <a:latin typeface="Average"/>
              <a:ea typeface="Average"/>
              <a:cs typeface="Average"/>
              <a:sym typeface="Average"/>
            </a:endParaRPr>
          </a:p>
          <a:p>
            <a:pPr indent="0" lvl="0" marL="457200" rtl="0" algn="l">
              <a:spcBef>
                <a:spcPts val="1200"/>
              </a:spcBef>
              <a:spcAft>
                <a:spcPts val="0"/>
              </a:spcAft>
              <a:buNone/>
            </a:pPr>
            <a:r>
              <a:t/>
            </a:r>
            <a:endParaRPr b="1" sz="1200">
              <a:solidFill>
                <a:schemeClr val="accent3"/>
              </a:solidFill>
              <a:latin typeface="Average"/>
              <a:ea typeface="Average"/>
              <a:cs typeface="Average"/>
              <a:sym typeface="Average"/>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31"/>
          <p:cNvSpPr txBox="1"/>
          <p:nvPr/>
        </p:nvSpPr>
        <p:spPr>
          <a:xfrm>
            <a:off x="440575" y="286275"/>
            <a:ext cx="7795500" cy="6696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None/>
            </a:pPr>
            <a:r>
              <a:rPr lang="en" sz="3000">
                <a:solidFill>
                  <a:schemeClr val="accent3"/>
                </a:solidFill>
                <a:latin typeface="Oswald"/>
                <a:ea typeface="Oswald"/>
                <a:cs typeface="Oswald"/>
                <a:sym typeface="Oswald"/>
              </a:rPr>
              <a:t>Further Analysis</a:t>
            </a:r>
            <a:endParaRPr sz="3000">
              <a:solidFill>
                <a:schemeClr val="accent3"/>
              </a:solidFill>
              <a:latin typeface="Oswald"/>
              <a:ea typeface="Oswald"/>
              <a:cs typeface="Oswald"/>
              <a:sym typeface="Oswald"/>
            </a:endParaRPr>
          </a:p>
        </p:txBody>
      </p:sp>
      <p:sp>
        <p:nvSpPr>
          <p:cNvPr id="176" name="Google Shape;176;p31"/>
          <p:cNvSpPr txBox="1"/>
          <p:nvPr/>
        </p:nvSpPr>
        <p:spPr>
          <a:xfrm>
            <a:off x="440575" y="955875"/>
            <a:ext cx="7795500" cy="4020900"/>
          </a:xfrm>
          <a:prstGeom prst="rect">
            <a:avLst/>
          </a:prstGeom>
          <a:noFill/>
          <a:ln>
            <a:noFill/>
          </a:ln>
        </p:spPr>
        <p:txBody>
          <a:bodyPr anchorCtr="0" anchor="t" bIns="91425" lIns="91425" spcFirstLastPara="1" rIns="91425" wrap="square" tIns="91425">
            <a:noAutofit/>
          </a:bodyPr>
          <a:lstStyle/>
          <a:p>
            <a:pPr indent="-330200" lvl="0" marL="457200" rtl="0" algn="l">
              <a:lnSpc>
                <a:spcPct val="115000"/>
              </a:lnSpc>
              <a:spcBef>
                <a:spcPts val="1200"/>
              </a:spcBef>
              <a:spcAft>
                <a:spcPts val="0"/>
              </a:spcAft>
              <a:buClr>
                <a:schemeClr val="accent3"/>
              </a:buClr>
              <a:buSzPts val="1600"/>
              <a:buChar char="●"/>
            </a:pPr>
            <a:r>
              <a:rPr b="1" lang="en" sz="1600">
                <a:solidFill>
                  <a:schemeClr val="accent3"/>
                </a:solidFill>
                <a:latin typeface="Average"/>
                <a:ea typeface="Average"/>
                <a:cs typeface="Average"/>
                <a:sym typeface="Average"/>
              </a:rPr>
              <a:t>User Behavior Analysis:</a:t>
            </a:r>
            <a:r>
              <a:rPr lang="en" sz="1600">
                <a:solidFill>
                  <a:schemeClr val="accent3"/>
                </a:solidFill>
                <a:latin typeface="Average"/>
                <a:ea typeface="Average"/>
                <a:cs typeface="Average"/>
                <a:sym typeface="Average"/>
              </a:rPr>
              <a:t> Understand how users interact with the platform, including their preferred genres, watch times, and device usage.</a:t>
            </a:r>
            <a:endParaRPr sz="1600">
              <a:solidFill>
                <a:schemeClr val="accent3"/>
              </a:solidFill>
              <a:latin typeface="Average"/>
              <a:ea typeface="Average"/>
              <a:cs typeface="Average"/>
              <a:sym typeface="Average"/>
            </a:endParaRPr>
          </a:p>
          <a:p>
            <a:pPr indent="0" lvl="0" marL="0" rtl="0" algn="l">
              <a:lnSpc>
                <a:spcPct val="115000"/>
              </a:lnSpc>
              <a:spcBef>
                <a:spcPts val="1200"/>
              </a:spcBef>
              <a:spcAft>
                <a:spcPts val="0"/>
              </a:spcAft>
              <a:buNone/>
            </a:pPr>
            <a:r>
              <a:t/>
            </a:r>
            <a:endParaRPr sz="1600">
              <a:solidFill>
                <a:schemeClr val="accent3"/>
              </a:solidFill>
              <a:latin typeface="Average"/>
              <a:ea typeface="Average"/>
              <a:cs typeface="Average"/>
              <a:sym typeface="Average"/>
            </a:endParaRPr>
          </a:p>
          <a:p>
            <a:pPr indent="0" lvl="0" marL="0" rtl="0" algn="l">
              <a:lnSpc>
                <a:spcPct val="115000"/>
              </a:lnSpc>
              <a:spcBef>
                <a:spcPts val="1200"/>
              </a:spcBef>
              <a:spcAft>
                <a:spcPts val="0"/>
              </a:spcAft>
              <a:buNone/>
            </a:pPr>
            <a:r>
              <a:t/>
            </a:r>
            <a:endParaRPr sz="1600">
              <a:solidFill>
                <a:schemeClr val="accent3"/>
              </a:solidFill>
              <a:latin typeface="Average"/>
              <a:ea typeface="Average"/>
              <a:cs typeface="Average"/>
              <a:sym typeface="Average"/>
            </a:endParaRPr>
          </a:p>
          <a:p>
            <a:pPr indent="0" lvl="0" marL="0" rtl="0" algn="l">
              <a:lnSpc>
                <a:spcPct val="115000"/>
              </a:lnSpc>
              <a:spcBef>
                <a:spcPts val="1200"/>
              </a:spcBef>
              <a:spcAft>
                <a:spcPts val="0"/>
              </a:spcAft>
              <a:buNone/>
            </a:pPr>
            <a:r>
              <a:rPr lang="en" sz="1600">
                <a:solidFill>
                  <a:schemeClr val="accent3"/>
                </a:solidFill>
                <a:latin typeface="Average"/>
                <a:ea typeface="Average"/>
                <a:cs typeface="Average"/>
                <a:sym typeface="Average"/>
              </a:rPr>
              <a:t>By leveraging the insights gained from this Power BI dashboard, we can make data-driven decisions to improve the user experience, optimize content delivery, and drive business growth.</a:t>
            </a:r>
            <a:endParaRPr sz="1600">
              <a:solidFill>
                <a:schemeClr val="accent3"/>
              </a:solidFill>
              <a:latin typeface="Average"/>
              <a:ea typeface="Average"/>
              <a:cs typeface="Average"/>
              <a:sym typeface="Average"/>
            </a:endParaRPr>
          </a:p>
          <a:p>
            <a:pPr indent="0" lvl="0" marL="457200" rtl="0" algn="l">
              <a:spcBef>
                <a:spcPts val="1200"/>
              </a:spcBef>
              <a:spcAft>
                <a:spcPts val="0"/>
              </a:spcAft>
              <a:buNone/>
            </a:pPr>
            <a:r>
              <a:t/>
            </a:r>
            <a:endParaRPr b="1" sz="1700">
              <a:solidFill>
                <a:schemeClr val="accent3"/>
              </a:solidFill>
              <a:latin typeface="Average"/>
              <a:ea typeface="Average"/>
              <a:cs typeface="Average"/>
              <a:sym typeface="Average"/>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32"/>
          <p:cNvSpPr txBox="1"/>
          <p:nvPr>
            <p:ph type="title"/>
          </p:nvPr>
        </p:nvSpPr>
        <p:spPr>
          <a:xfrm>
            <a:off x="671250" y="2141250"/>
            <a:ext cx="7852200" cy="861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late">
  <a:themeElements>
    <a:clrScheme name="Slate">
      <a:dk1>
        <a:srgbClr val="FFFFFF"/>
      </a:dk1>
      <a:lt1>
        <a:srgbClr val="37474F"/>
      </a:lt1>
      <a:dk2>
        <a:srgbClr val="9E9E9E"/>
      </a:dk2>
      <a:lt2>
        <a:srgbClr val="E0E0E0"/>
      </a:lt2>
      <a:accent1>
        <a:srgbClr val="616161"/>
      </a:accent1>
      <a:accent2>
        <a:srgbClr val="78909C"/>
      </a:accent2>
      <a:accent3>
        <a:srgbClr val="CACACA"/>
      </a:accent3>
      <a:accent4>
        <a:srgbClr val="64FFDA"/>
      </a:accent4>
      <a:accent5>
        <a:srgbClr val="FFD966"/>
      </a:accent5>
      <a:accent6>
        <a:srgbClr val="F5F5F5"/>
      </a:accent6>
      <a:hlink>
        <a:srgbClr val="FFD966"/>
      </a:hlink>
      <a:folHlink>
        <a:srgbClr val="FFD9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